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발표" id="{e1c77fe4-38fa-1d67-ea98-b84940dd740e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11D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211D"/>
                </a:solidFill>
                <a:latin typeface="+mn-lt"/>
              </a:rPr>
              <a:t>연도별 출생아 수 (단위: 만 명)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출생아 수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B21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27.2</c:v>
                </c:pt>
                <c:pt idx="1">
                  <c:v>26.1</c:v>
                </c:pt>
                <c:pt idx="2">
                  <c:v>24.9</c:v>
                </c:pt>
                <c:pt idx="3">
                  <c:v>23</c:v>
                </c:pt>
                <c:pt idx="4">
                  <c:v>23.8</c:v>
                </c:pt>
                <c:pt idx="5">
                  <c:v>25.4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B211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주장과 참고한 책을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자료는 국가데이터처의 인구동향조사 출생 통계입니다. 출생신고서 전체를 집계한 전수 자료이고, 연도별 출생아 수만 골라 만 명 단위로 표를 다시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세로축은 0부터 시작했습니다. 2020년 27.2만 명에서 2023년 23.0만 명으로 약 15% 줄었고, 2025년 25.4만 명까지 약 10% 늘었습니다. 혼인 건수가 먼저 움직이고 출생이 1년 뒤 따라왔습니다.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출생아 수는 혼인 건수를 1~2년 뒤따라 움직입니다. 그래서 결혼을 쉽게 하는 지원이 먼저라고 결론 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IN">
    <p:bg>
      <p:bgPr>
        <a:solidFill>
          <a:srgbClr val="EE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제목</a:t>
            </a:r>
            <a:endParaRPr lang="en-US" sz="24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통계독서탐구 · 2학년 확률과 통계 수행평가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나의 주장과 참고 도서</a:t>
            </a:r>
            <a:endParaRPr lang="en-US" sz="2400" dirty="0"/>
          </a:p>
        </p:txBody>
      </p:sp>
      <p:sp>
        <p:nvSpPr>
          <p:cNvPr id="3" name="번호 1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1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주장"/>
          <p:cNvSpPr txBox="1"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출생아 수는 2024년부터 다시 늘고 있다.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출생을 늘리려면 결혼을 쉽게 하는 지원이 먼저다.</a:t>
            </a:r>
            <a:endParaRPr lang="en-US" sz="2600" dirty="0"/>
          </a:p>
        </p:txBody>
      </p:sp>
      <p:sp>
        <p:nvSpPr>
          <p:cNvPr id="6" name="발표자 카드"/>
          <p:cNvSpPr/>
          <p:nvPr/>
        </p:nvSpPr>
        <p:spPr>
          <a:xfrm>
            <a:off x="45720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발표자 라벨"/>
          <p:cNvSpPr txBox="1"/>
          <p:nvPr/>
        </p:nvSpPr>
        <p:spPr>
          <a:xfrm>
            <a:off x="6858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발표자</a:t>
            </a:r>
            <a:endParaRPr lang="en-US" sz="1100" dirty="0"/>
          </a:p>
        </p:txBody>
      </p:sp>
      <p:sp>
        <p:nvSpPr>
          <p:cNvPr id="8" name="발표자"/>
          <p:cNvSpPr txBox="1"/>
          <p:nvPr/>
        </p:nvSpPr>
        <p:spPr>
          <a:xfrm>
            <a:off x="685800" y="3291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2학년 1반 1번 홍길동</a:t>
            </a:r>
            <a:endParaRPr lang="en-US" sz="1800" dirty="0"/>
          </a:p>
        </p:txBody>
      </p:sp>
      <p:sp>
        <p:nvSpPr>
          <p:cNvPr id="9" name="참고 도서 카드"/>
          <p:cNvSpPr/>
          <p:nvPr/>
        </p:nvSpPr>
        <p:spPr>
          <a:xfrm>
            <a:off x="475488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참고 도서 라벨"/>
          <p:cNvSpPr txBox="1"/>
          <p:nvPr/>
        </p:nvSpPr>
        <p:spPr>
          <a:xfrm>
            <a:off x="498348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참고 도서</a:t>
            </a:r>
            <a:endParaRPr lang="en-US" sz="1100" dirty="0"/>
          </a:p>
        </p:txBody>
      </p:sp>
      <p:sp>
        <p:nvSpPr>
          <p:cNvPr id="11" name="도서명"/>
          <p:cNvSpPr txBox="1"/>
          <p:nvPr/>
        </p:nvSpPr>
        <p:spPr>
          <a:xfrm>
            <a:off x="49834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《새빨간 거짓말, 통계》 대럴 허프</a:t>
            </a:r>
            <a:endParaRPr lang="en-US" sz="1600" dirty="0"/>
          </a:p>
        </p:txBody>
      </p:sp>
      <p:sp>
        <p:nvSpPr>
          <p:cNvPr id="12" name="도서 연계"/>
          <p:cNvSpPr txBox="1"/>
          <p:nvPr/>
        </p:nvSpPr>
        <p:spPr>
          <a:xfrm>
            <a:off x="4983480" y="3703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표본이 치우치면 결과가 틀린다는 조언을 따라, 내 자료가 출생신고 전체를 집계한 것인지 먼저 확인함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자료 출처와 내가 만든 표</a:t>
            </a:r>
            <a:endParaRPr lang="en-US" sz="2400" dirty="0"/>
          </a:p>
        </p:txBody>
      </p:sp>
      <p:sp>
        <p:nvSpPr>
          <p:cNvPr id="3" name="번호 2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2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출처 카드"/>
          <p:cNvSpPr/>
          <p:nvPr/>
        </p:nvSpPr>
        <p:spPr>
          <a:xfrm>
            <a:off x="457200" y="1005840"/>
            <a:ext cx="411480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출처"/>
          <p:cNvSpPr txBox="1"/>
          <p:nvPr/>
        </p:nvSpPr>
        <p:spPr>
          <a:xfrm>
            <a:off x="640080" y="10972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기관: 국가데이터처(옛 통계청)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조사 이름: 「인구동향조사」 출생 통계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조사 방식: 모두 조사(전수). 출생신고서 전체를 집계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얻는 길: kosis.kr → '출생아 수' 검색 → 인구동향조사</a:t>
            </a:r>
            <a:endParaRPr lang="en-US" sz="1200" dirty="0"/>
          </a:p>
        </p:txBody>
      </p:sp>
      <p:sp>
        <p:nvSpPr>
          <p:cNvPr id="7" name="표 안내"/>
          <p:cNvSpPr txBox="1"/>
          <p:nvPr/>
        </p:nvSpPr>
        <p:spPr>
          <a:xfrm>
            <a:off x="457200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연도별 합계만 골라 다시 만든 표 (단위: 만 명)</a:t>
            </a:r>
            <a:endParaRPr lang="en-US" sz="1000" dirty="0"/>
          </a:p>
        </p:txBody>
      </p:sp>
      <p:graphicFrame>
        <p:nvGraphicFramePr>
          <p:cNvPr id="3" name="내가 만든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4114800" cy="914400"/>
        </p:xfrm>
        <a:graphic>
          <a:graphicData uri="http://schemas.openxmlformats.org/drawingml/2006/table">
            <a:tbl>
              <a:tblPr/>
              <a:tblGrid>
                <a:gridCol w="877824"/>
                <a:gridCol w="539496"/>
                <a:gridCol w="539496"/>
                <a:gridCol w="539496"/>
                <a:gridCol w="539496"/>
                <a:gridCol w="539496"/>
                <a:gridCol w="53949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연도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2020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2021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2022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2023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2024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11D"/>
                          </a:solidFill>
                        </a:rPr>
                        <a:t>2025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출생아 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27.2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26.1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24.9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23.0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23.8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11D"/>
                          </a:solidFill>
                        </a:rPr>
                        <a:t>25.4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표 읽기"/>
          <p:cNvSpPr txBox="1"/>
          <p:nvPr/>
        </p:nvSpPr>
        <p:spPr>
          <a:xfrm>
            <a:off x="45720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2020년에서 2023년까지 줄다가 2024년부터 2년 연속 늘었다</a:t>
            </a:r>
            <a:endParaRPr lang="en-US" sz="1000" dirty="0"/>
          </a:p>
        </p:txBody>
      </p:sp>
      <p:sp>
        <p:nvSpPr>
          <p:cNvPr id="10" name="원자료 캡처 자리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11" name="원자료 캡처 자리 안내"/>
          <p:cNvSpPr txBox="1"/>
          <p:nvPr/>
        </p:nvSpPr>
        <p:spPr>
          <a:xfrm>
            <a:off x="5029200" y="118872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KOSIS 화면 캡처 자리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(인구동향조사 → 출생아 수 표)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실제 발표에서는 여기에 캡처 이미지를 넣습니다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그래프와 해석</a:t>
            </a:r>
            <a:endParaRPr lang="en-US" sz="2400" dirty="0"/>
          </a:p>
        </p:txBody>
      </p:sp>
      <p:sp>
        <p:nvSpPr>
          <p:cNvPr id="3" name="번호 3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3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graphicFrame>
        <p:nvGraphicFramePr>
          <p:cNvPr id="5" name="연도별 출생아 수 (단위: 만 명)" descr=""/>
          <p:cNvGraphicFramePr/>
          <p:nvPr/>
        </p:nvGraphicFramePr>
        <p:xfrm>
          <a:off x="457200" y="100584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해석 카드 1"/>
          <p:cNvSpPr/>
          <p:nvPr/>
        </p:nvSpPr>
        <p:spPr>
          <a:xfrm>
            <a:off x="5303520" y="100584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해석 라벨 1"/>
          <p:cNvSpPr txBox="1"/>
          <p:nvPr/>
        </p:nvSpPr>
        <p:spPr>
          <a:xfrm>
            <a:off x="548640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① 숫자로 말하기</a:t>
            </a:r>
            <a:endParaRPr lang="en-US" sz="1100" dirty="0"/>
          </a:p>
        </p:txBody>
      </p:sp>
      <p:sp>
        <p:nvSpPr>
          <p:cNvPr id="8" name="해석 1"/>
          <p:cNvSpPr txBox="1"/>
          <p:nvPr/>
        </p:nvSpPr>
        <p:spPr>
          <a:xfrm>
            <a:off x="5486400" y="1371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2020년 27.2만 명 → 2023년 23.0만 명, 4.2만 명(약 15%) 감소. 2023년 → 2025년 25.4만 명, 2.4만 명(약 10%) 증가. 2년 연속 증가</a:t>
            </a:r>
            <a:endParaRPr lang="en-US" sz="1050" dirty="0"/>
          </a:p>
        </p:txBody>
      </p:sp>
      <p:sp>
        <p:nvSpPr>
          <p:cNvPr id="9" name="해석 카드 2"/>
          <p:cNvSpPr/>
          <p:nvPr/>
        </p:nvSpPr>
        <p:spPr>
          <a:xfrm>
            <a:off x="5303520" y="219456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해석 라벨 2"/>
          <p:cNvSpPr txBox="1"/>
          <p:nvPr/>
        </p:nvSpPr>
        <p:spPr>
          <a:xfrm>
            <a:off x="54864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② 의견 또는 추측</a:t>
            </a:r>
            <a:endParaRPr lang="en-US" sz="1100" dirty="0"/>
          </a:p>
        </p:txBody>
      </p:sp>
      <p:sp>
        <p:nvSpPr>
          <p:cNvPr id="11" name="해석 2"/>
          <p:cNvSpPr txBox="1"/>
          <p:nvPr/>
        </p:nvSpPr>
        <p:spPr>
          <a:xfrm>
            <a:off x="548640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결혼이 줄었다 늘어난 것이 1~2년 뒤 출생에 나타났다고 본다. 코로나19 때 미룬 결혼이 2023~2024년에 몰렸다</a:t>
            </a:r>
            <a:endParaRPr lang="en-US" sz="1050" dirty="0"/>
          </a:p>
        </p:txBody>
      </p:sp>
      <p:sp>
        <p:nvSpPr>
          <p:cNvPr id="12" name="해석 카드 3"/>
          <p:cNvSpPr/>
          <p:nvPr/>
        </p:nvSpPr>
        <p:spPr>
          <a:xfrm>
            <a:off x="5303520" y="3383280"/>
            <a:ext cx="33832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해석 라벨 3"/>
          <p:cNvSpPr txBox="1"/>
          <p:nvPr/>
        </p:nvSpPr>
        <p:spPr>
          <a:xfrm>
            <a:off x="548640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③ 의견·추측의 근거</a:t>
            </a:r>
            <a:endParaRPr lang="en-US" sz="1100" dirty="0"/>
          </a:p>
        </p:txBody>
      </p:sp>
      <p:sp>
        <p:nvSpPr>
          <p:cNvPr id="14" name="해석 3"/>
          <p:cNvSpPr txBox="1"/>
          <p:nvPr/>
        </p:nvSpPr>
        <p:spPr>
          <a:xfrm>
            <a:off x="548640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같은 기관 「혼인·이혼 통계」: 혼인 건수 2020년 21.4만 → 2022년 19.2만(최저) → 2024년 22.2만 건(+14.8%). 출생은 그 1년 뒤에 늘었다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60120" y="2743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결론</a:t>
            </a:r>
            <a:endParaRPr lang="en-US" sz="2400" dirty="0"/>
          </a:p>
        </p:txBody>
      </p:sp>
      <p:sp>
        <p:nvSpPr>
          <p:cNvPr id="3" name="번호 4"/>
          <p:cNvSpPr/>
          <p:nvPr/>
        </p:nvSpPr>
        <p:spPr>
          <a:xfrm>
            <a:off x="457200" y="3566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번호 글자 4"/>
          <p:cNvSpPr txBox="1"/>
          <p:nvPr/>
        </p:nvSpPr>
        <p:spPr>
          <a:xfrm>
            <a:off x="457200" y="356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결론 카드 1"/>
          <p:cNvSpPr/>
          <p:nvPr/>
        </p:nvSpPr>
        <p:spPr>
          <a:xfrm>
            <a:off x="457200" y="96012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결론 라벨 1"/>
          <p:cNvSpPr txBox="1"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통계가 보여 준 것</a:t>
            </a:r>
            <a:endParaRPr lang="en-US" sz="1100" dirty="0"/>
          </a:p>
        </p:txBody>
      </p:sp>
      <p:sp>
        <p:nvSpPr>
          <p:cNvPr id="7" name="결론 1"/>
          <p:cNvSpPr txBox="1"/>
          <p:nvPr/>
        </p:nvSpPr>
        <p:spPr>
          <a:xfrm>
            <a:off x="68580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출생아 수는 2020년 27.2만 명에서 2023년 23.0만 명으로 줄었다가 2025년 25.4만 명으로 2년 연속 늘었다.</a:t>
            </a:r>
            <a:endParaRPr lang="en-US" sz="1400" dirty="0"/>
          </a:p>
        </p:txBody>
      </p:sp>
      <p:sp>
        <p:nvSpPr>
          <p:cNvPr id="8" name="결론 카드 2"/>
          <p:cNvSpPr/>
          <p:nvPr/>
        </p:nvSpPr>
        <p:spPr>
          <a:xfrm>
            <a:off x="457200" y="219456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결론 라벨 2"/>
          <p:cNvSpPr txBox="1"/>
          <p:nvPr/>
        </p:nvSpPr>
        <p:spPr>
          <a:xfrm>
            <a:off x="685800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통계 분석</a:t>
            </a:r>
            <a:endParaRPr lang="en-US" sz="1100" dirty="0"/>
          </a:p>
        </p:txBody>
      </p:sp>
      <p:sp>
        <p:nvSpPr>
          <p:cNvPr id="10" name="결론 2"/>
          <p:cNvSpPr txBox="1"/>
          <p:nvPr/>
        </p:nvSpPr>
        <p:spPr>
          <a:xfrm>
            <a:off x="685800" y="25786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출생아 수는 혼인 건수를 1~2년 뒤따라 움직인다. 혼인이 2022년 바닥을 찍고 2024년 14.8% 늘었으니 2026년 출생아 수도 늘 가능성이 크다.</a:t>
            </a:r>
            <a:endParaRPr lang="en-US" sz="1400" dirty="0"/>
          </a:p>
        </p:txBody>
      </p:sp>
      <p:sp>
        <p:nvSpPr>
          <p:cNvPr id="11" name="결론 카드 3"/>
          <p:cNvSpPr/>
          <p:nvPr/>
        </p:nvSpPr>
        <p:spPr>
          <a:xfrm>
            <a:off x="457200" y="3429000"/>
            <a:ext cx="8229600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결론 라벨 3"/>
          <p:cNvSpPr txBox="1"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결론</a:t>
            </a:r>
            <a:endParaRPr lang="en-US" sz="1100" dirty="0"/>
          </a:p>
        </p:txBody>
      </p:sp>
      <p:sp>
        <p:nvSpPr>
          <p:cNvPr id="13" name="결론 3"/>
          <p:cNvSpPr txBox="1"/>
          <p:nvPr/>
        </p:nvSpPr>
        <p:spPr>
          <a:xfrm>
            <a:off x="685800" y="381304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아이를 낳은 뒤의 지원보다 결혼 자체를 쉽게 하는 지원(신혼부부 주거 등)이 먼저다. 저출생 대책의 효과는 1~2년 앞서 움직이는 혼인 건수로 먼저 평가하자.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7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통계독서탐구">
  <a:themeElements>
    <a:clrScheme name="통계독서탐구">
      <a:dk1>
        <a:srgbClr val="1B211D"/>
      </a:dk1>
      <a:lt1>
        <a:srgbClr val="FFFFFF"/>
      </a:lt1>
      <a:dk2>
        <a:srgbClr val="2F5D50"/>
      </a:dk2>
      <a:lt2>
        <a:srgbClr val="EEF3EF"/>
      </a:lt2>
      <a:accent1>
        <a:srgbClr val="2F5D50"/>
      </a:accent1>
      <a:accent2>
        <a:srgbClr val="2A78D6"/>
      </a:accent2>
      <a:accent3>
        <a:srgbClr val="6B6759"/>
      </a:accent3>
      <a:accent4>
        <a:srgbClr val="B9B4A6"/>
      </a:accent4>
      <a:accent5>
        <a:srgbClr val="E1EBE5"/>
      </a:accent5>
      <a:accent6>
        <a:srgbClr val="F3F1EA"/>
      </a:accent6>
      <a:hlink>
        <a:srgbClr val="2A78D6"/>
      </a:hlink>
      <a:folHlink>
        <a:srgbClr val="6B6759"/>
      </a:folHlink>
    </a:clrScheme>
    <a:fontScheme name="통계독서탐구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통계독서탐구 발표 예시</dc:title>
  <dc:subject>2학년 확률과 통계 수행평가 통계독서탐구</dc:subject>
  <dc:creator>PptxGenJS</dc:creator>
  <cp:lastModifiedBy>PptxGenJS</cp:lastModifiedBy>
  <cp:revision>1</cp:revision>
  <dcterms:created xsi:type="dcterms:W3CDTF">2026-10-22T04:58:47Z</dcterms:created>
  <dcterms:modified xsi:type="dcterms:W3CDTF">2026-10-22T04:58:47Z</dcterms:modified>
</cp:coreProperties>
</file>