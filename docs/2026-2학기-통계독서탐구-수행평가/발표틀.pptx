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발표" id="{810c5f7e-f3c6-1e52-2fe8-82754696c6de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주장 한 문장과 참고한 책을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어디서 가져온 자료인지, 모두 조사한 것인지 일부만 뽑아 조사한 것인지, 원자료에서 무엇을 골라 표를 다시 만들었는지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얼마나 늘고 줄었는지, 그것을 보고 어떤 의견이나 추측을 했는지, 근거는 무엇인지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부분으로 마무리합니다. 발표가 끝나면 선생님 질문 하나에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IN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나의 주장과 참고 도서</a:t>
            </a:r>
            <a:endParaRPr lang="en-US" sz="2400" dirty="0"/>
          </a:p>
        </p:txBody>
      </p:sp>
      <p:sp>
        <p:nvSpPr>
          <p:cNvPr id="3" name="번호 1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1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주장"/>
          <p:cNvSpPr txBox="1"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[주장 한 문장을 여기에 씁니다]</a:t>
            </a:r>
            <a:endParaRPr lang="en-US" sz="3000" dirty="0"/>
          </a:p>
        </p:txBody>
      </p:sp>
      <p:sp>
        <p:nvSpPr>
          <p:cNvPr id="6" name="주장 안내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통계로 확인할 수 있는 주장이어야 합니다. 이 회색 안내 글은 지워도 됩니다.</a:t>
            </a:r>
            <a:endParaRPr lang="en-US" sz="1100" dirty="0"/>
          </a:p>
        </p:txBody>
      </p:sp>
      <p:sp>
        <p:nvSpPr>
          <p:cNvPr id="7" name="발표자 카드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발표자 라벨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발표자</a:t>
            </a:r>
            <a:endParaRPr lang="en-US" sz="1100" dirty="0"/>
          </a:p>
        </p:txBody>
      </p:sp>
      <p:sp>
        <p:nvSpPr>
          <p:cNvPr id="9" name="발표자"/>
          <p:cNvSpPr txBox="1"/>
          <p:nvPr/>
        </p:nvSpPr>
        <p:spPr>
          <a:xfrm>
            <a:off x="68580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2학년 [  ]반 [  ]번 [이름]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진로: [  ]</a:t>
            </a:r>
            <a:endParaRPr lang="en-US" sz="1800" dirty="0"/>
          </a:p>
        </p:txBody>
      </p:sp>
      <p:sp>
        <p:nvSpPr>
          <p:cNvPr id="10" name="참고 도서 카드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참고 도서 라벨"/>
          <p:cNvSpPr txBox="1"/>
          <p:nvPr/>
        </p:nvSpPr>
        <p:spPr>
          <a:xfrm>
            <a:off x="49834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참고 도서</a:t>
            </a:r>
            <a:endParaRPr lang="en-US" sz="1100" dirty="0"/>
          </a:p>
        </p:txBody>
      </p:sp>
      <p:sp>
        <p:nvSpPr>
          <p:cNvPr id="12" name="도서명"/>
          <p:cNvSpPr txBox="1"/>
          <p:nvPr/>
        </p:nvSpPr>
        <p:spPr>
          <a:xfrm>
            <a:off x="49834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《[도서명]》 [저자]</a:t>
            </a:r>
            <a:endParaRPr lang="en-US" sz="1600" dirty="0"/>
          </a:p>
        </p:txBody>
      </p:sp>
      <p:sp>
        <p:nvSpPr>
          <p:cNvPr id="13" name="도서 연계"/>
          <p:cNvSpPr txBox="1"/>
          <p:nvPr/>
        </p:nvSpPr>
        <p:spPr>
          <a:xfrm>
            <a:off x="4983480" y="3749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 책을 어떻게 썼나: [한 줄]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자료 출처와 내가 만든 표</a:t>
            </a:r>
            <a:endParaRPr lang="en-US" sz="2400" dirty="0"/>
          </a:p>
        </p:txBody>
      </p:sp>
      <p:sp>
        <p:nvSpPr>
          <p:cNvPr id="3" name="번호 2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2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출처 카드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출처"/>
          <p:cNvSpPr txBox="1"/>
          <p:nvPr/>
        </p:nvSpPr>
        <p:spPr>
          <a:xfrm>
            <a:off x="640080" y="102412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기관: [자료를 만든 기관]  ·  조사 이름: 「[조사 이름]」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대상: [누구를, 몇 명을]  ·  조사 방식: 모두 조사(전수) / 일부만 뽑아 조사(표본) ← 하나만 남깁니다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얻는 길: [누리집 주소] → [메뉴] → [표 이름]</a:t>
            </a:r>
            <a:endParaRPr lang="en-US" sz="1150" dirty="0"/>
          </a:p>
        </p:txBody>
      </p:sp>
      <p:sp>
        <p:nvSpPr>
          <p:cNvPr id="7" name="원자료 라벨"/>
          <p:cNvSpPr txBox="1"/>
          <p:nvPr/>
        </p:nvSpPr>
        <p:spPr>
          <a:xfrm>
            <a:off x="45720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원자료 표 (일부 발췌)</a:t>
            </a:r>
            <a:endParaRPr lang="en-US" sz="1100" dirty="0"/>
          </a:p>
        </p:txBody>
      </p:sp>
      <p:graphicFrame>
        <p:nvGraphicFramePr>
          <p:cNvPr id="3" name="원자료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11D"/>
                          </a:solidFill>
                        </a:rPr>
                        <a:t>구분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캡처 안내"/>
          <p:cNvSpPr txBox="1"/>
          <p:nvPr/>
        </p:nvSpPr>
        <p:spPr>
          <a:xfrm>
            <a:off x="45720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원자료 화면 캡처를 여기에 넣어도 됩니다 (삽입 → 그림)</a:t>
            </a:r>
            <a:endParaRPr lang="en-US" sz="1000" dirty="0"/>
          </a:p>
        </p:txBody>
      </p:sp>
      <p:sp>
        <p:nvSpPr>
          <p:cNvPr id="10" name="화살표"/>
          <p:cNvSpPr txBox="1"/>
          <p:nvPr/>
        </p:nvSpPr>
        <p:spPr>
          <a:xfrm>
            <a:off x="45720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가공표 라벨"/>
          <p:cNvSpPr txBox="1"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내가 다시 만든 표 · 단위: [  ]</a:t>
            </a:r>
            <a:endParaRPr lang="en-US" sz="1100" dirty="0"/>
          </a:p>
        </p:txBody>
      </p:sp>
      <p:graphicFrame>
        <p:nvGraphicFramePr>
          <p:cNvPr id="5" name="내가 만든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395728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11D"/>
                          </a:solidFill>
                        </a:rPr>
                        <a:t>구분</a:t>
                      </a: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가공 안내"/>
          <p:cNvSpPr txBox="1"/>
          <p:nvPr/>
        </p:nvSpPr>
        <p:spPr>
          <a:xfrm>
            <a:off x="5029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필요한 행·열만 3~8개 골라 옮깁니다. 직접 계산한 열(차이, 비율)을 넣어도 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그래프와 해석</a:t>
            </a:r>
            <a:endParaRPr lang="en-US" sz="2400" dirty="0"/>
          </a:p>
        </p:txBody>
      </p:sp>
      <p:sp>
        <p:nvSpPr>
          <p:cNvPr id="3" name="번호 3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3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그래프 자리"/>
          <p:cNvSpPr/>
          <p:nvPr/>
        </p:nvSpPr>
        <p:spPr>
          <a:xfrm>
            <a:off x="457200" y="960120"/>
            <a:ext cx="8229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6" name="그래프 자리 안내"/>
          <p:cNvSpPr txBox="1"/>
          <p:nvPr/>
        </p:nvSpPr>
        <p:spPr>
          <a:xfrm>
            <a:off x="640080" y="11430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그래프를 여기에 넣습니다 (삽입 → 차트, 또는 손으로 그린 것을 찍은 사진). 세로축은 0부터, 제목과 단위를 씁니다</a:t>
            </a:r>
            <a:endParaRPr lang="en-US" sz="1300" dirty="0"/>
          </a:p>
        </p:txBody>
      </p:sp>
      <p:sp>
        <p:nvSpPr>
          <p:cNvPr id="7" name="해석 카드 1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해석 라벨 1"/>
          <p:cNvSpPr txBox="1"/>
          <p:nvPr/>
        </p:nvSpPr>
        <p:spPr>
          <a:xfrm>
            <a:off x="62179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① 숫자로 말하기</a:t>
            </a:r>
            <a:endParaRPr lang="en-US" sz="1050" dirty="0"/>
          </a:p>
        </p:txBody>
      </p:sp>
      <p:sp>
        <p:nvSpPr>
          <p:cNvPr id="9" name="해석 1"/>
          <p:cNvSpPr txBox="1"/>
          <p:nvPr/>
        </p:nvSpPr>
        <p:spPr>
          <a:xfrm>
            <a:off x="621792" y="34930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[__년 __에서 __년 __으로 __만큼 늘었다/줄었다. 비율로는 약 __%]</a:t>
            </a:r>
            <a:endParaRPr lang="en-US" sz="1050" dirty="0"/>
          </a:p>
        </p:txBody>
      </p:sp>
      <p:sp>
        <p:nvSpPr>
          <p:cNvPr id="10" name="해석 카드 2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해석 라벨 2"/>
          <p:cNvSpPr txBox="1"/>
          <p:nvPr/>
        </p:nvSpPr>
        <p:spPr>
          <a:xfrm>
            <a:off x="341071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② 의견 또는 추측</a:t>
            </a:r>
            <a:endParaRPr lang="en-US" sz="1050" dirty="0"/>
          </a:p>
        </p:txBody>
      </p:sp>
      <p:sp>
        <p:nvSpPr>
          <p:cNvPr id="12" name="해석 2"/>
          <p:cNvSpPr txBox="1"/>
          <p:nvPr/>
        </p:nvSpPr>
        <p:spPr>
          <a:xfrm>
            <a:off x="3410712" y="34930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[가공한 자료를 보고 든 생각, 앞으로 어떻게 될지]</a:t>
            </a:r>
            <a:endParaRPr lang="en-US" sz="1050" dirty="0"/>
          </a:p>
        </p:txBody>
      </p:sp>
      <p:sp>
        <p:nvSpPr>
          <p:cNvPr id="13" name="해석 카드 3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해석 라벨 3"/>
          <p:cNvSpPr txBox="1"/>
          <p:nvPr/>
        </p:nvSpPr>
        <p:spPr>
          <a:xfrm>
            <a:off x="619963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③ 의견·추측의 근거</a:t>
            </a:r>
            <a:endParaRPr lang="en-US" sz="1050" dirty="0"/>
          </a:p>
        </p:txBody>
      </p:sp>
      <p:sp>
        <p:nvSpPr>
          <p:cNvPr id="15" name="해석 3"/>
          <p:cNvSpPr txBox="1"/>
          <p:nvPr/>
        </p:nvSpPr>
        <p:spPr>
          <a:xfrm>
            <a:off x="6199632" y="349300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[다른 통계 수치, 책 내용 등. 출처를 함께]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</a:t>
            </a:r>
            <a:endParaRPr lang="en-US" sz="2400" dirty="0"/>
          </a:p>
        </p:txBody>
      </p:sp>
      <p:sp>
        <p:nvSpPr>
          <p:cNvPr id="3" name="번호 4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4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결론 카드 1"/>
          <p:cNvSpPr/>
          <p:nvPr/>
        </p:nvSpPr>
        <p:spPr>
          <a:xfrm>
            <a:off x="457200" y="9601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결론 라벨 1"/>
          <p:cNvSpPr txBox="1"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통계가 보여 준 것</a:t>
            </a:r>
            <a:endParaRPr lang="en-US" sz="1100" dirty="0"/>
          </a:p>
        </p:txBody>
      </p:sp>
      <p:sp>
        <p:nvSpPr>
          <p:cNvPr id="7" name="결론 1"/>
          <p:cNvSpPr txBox="1"/>
          <p:nvPr/>
        </p:nvSpPr>
        <p:spPr>
          <a:xfrm>
            <a:off x="68580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[통계가 보여 준 사실을 숫자로]</a:t>
            </a:r>
            <a:endParaRPr lang="en-US" sz="1600" dirty="0"/>
          </a:p>
        </p:txBody>
      </p:sp>
      <p:sp>
        <p:nvSpPr>
          <p:cNvPr id="8" name="결론 카드 2"/>
          <p:cNvSpPr/>
          <p:nvPr/>
        </p:nvSpPr>
        <p:spPr>
          <a:xfrm>
            <a:off x="457200" y="21945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결론 라벨 2"/>
          <p:cNvSpPr txBox="1"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 분석</a:t>
            </a:r>
            <a:endParaRPr lang="en-US" sz="1100" dirty="0"/>
          </a:p>
        </p:txBody>
      </p:sp>
      <p:sp>
        <p:nvSpPr>
          <p:cNvPr id="10" name="결론 2"/>
          <p:cNvSpPr txBox="1"/>
          <p:nvPr/>
        </p:nvSpPr>
        <p:spPr>
          <a:xfrm>
            <a:off x="685800" y="25786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[그 숫자를 어떻게 분석했나, 앞으로 어떻게 될까]</a:t>
            </a:r>
            <a:endParaRPr lang="en-US" sz="1600" dirty="0"/>
          </a:p>
        </p:txBody>
      </p:sp>
      <p:sp>
        <p:nvSpPr>
          <p:cNvPr id="11" name="결론 카드 3"/>
          <p:cNvSpPr/>
          <p:nvPr/>
        </p:nvSpPr>
        <p:spPr>
          <a:xfrm>
            <a:off x="457200" y="342900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결론 라벨 3"/>
          <p:cNvSpPr txBox="1"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결론</a:t>
            </a:r>
            <a:endParaRPr lang="en-US" sz="1100" dirty="0"/>
          </a:p>
        </p:txBody>
      </p:sp>
      <p:sp>
        <p:nvSpPr>
          <p:cNvPr id="13" name="결론 3"/>
          <p:cNvSpPr txBox="1"/>
          <p:nvPr/>
        </p:nvSpPr>
        <p:spPr>
          <a:xfrm>
            <a:off x="685800" y="38130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[그래서 무엇을 하자, 나는 무엇을 하겠다. 숫자를 넣으면 좋다]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통계독서탐구">
  <a:themeElements>
    <a:clrScheme name="통계독서탐구">
      <a:dk1>
        <a:srgbClr val="1B211D"/>
      </a:dk1>
      <a:lt1>
        <a:srgbClr val="FFFFFF"/>
      </a:lt1>
      <a:dk2>
        <a:srgbClr val="2F5D50"/>
      </a:dk2>
      <a:lt2>
        <a:srgbClr val="EEF3EF"/>
      </a:lt2>
      <a:accent1>
        <a:srgbClr val="2F5D50"/>
      </a:accent1>
      <a:accent2>
        <a:srgbClr val="2A78D6"/>
      </a:accent2>
      <a:accent3>
        <a:srgbClr val="6B6759"/>
      </a:accent3>
      <a:accent4>
        <a:srgbClr val="B9B4A6"/>
      </a:accent4>
      <a:accent5>
        <a:srgbClr val="E1EBE5"/>
      </a:accent5>
      <a:accent6>
        <a:srgbClr val="F3F1EA"/>
      </a:accent6>
      <a:hlink>
        <a:srgbClr val="2A78D6"/>
      </a:hlink>
      <a:folHlink>
        <a:srgbClr val="6B6759"/>
      </a:folHlink>
    </a:clrScheme>
    <a:fontScheme name="통계독서탐구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통계독서탐구 발표 틀</dc:title>
  <dc:subject>2학년 확률과 통계 수행평가 통계독서탐구</dc:subject>
  <dc:creator>PptxGenJS</dc:creator>
  <cp:lastModifiedBy>PptxGenJS</cp:lastModifiedBy>
  <cp:revision>1</cp:revision>
  <dcterms:created xsi:type="dcterms:W3CDTF">2026-10-20T07:13:24Z</dcterms:created>
  <dcterms:modified xsi:type="dcterms:W3CDTF">2026-10-20T07:13:24Z</dcterms:modified>
</cp:coreProperties>
</file>