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545fdb77-b23d-0a63-f9cf-2e0afbf1121d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연말 전기차 누적 등록 대수 (단위: 만 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누적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2020</c:v>
                  </c:pt>
                  <c:pt idx="1">
                    <c:v>2021</c:v>
                  </c:pt>
                  <c:pt idx="2">
                    <c:v>2022</c:v>
                  </c:pt>
                  <c:pt idx="3">
                    <c:v>2023</c:v>
                  </c:pt>
                  <c:pt idx="4">
                    <c:v>2024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13.5</c:v>
                </c:pt>
                <c:pt idx="1">
                  <c:v>23.1</c:v>
                </c:pt>
                <c:pt idx="2">
                  <c:v>39</c:v>
                </c:pt>
                <c:pt idx="3">
                  <c:v>54.4</c:v>
                </c:pt>
                <c:pt idx="4">
                  <c:v>68.4</c:v>
                </c:pt>
                <c:pt idx="5">
                  <c:v>89.9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그해 늘어난 전기차 (단위: 만 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그해 증가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9.6</c:v>
                </c:pt>
                <c:pt idx="1">
                  <c:v>15.9</c:v>
                </c:pt>
                <c:pt idx="2">
                  <c:v>15.4</c:v>
                </c:pt>
                <c:pt idx="3">
                  <c:v>14</c:v>
                </c:pt>
                <c:pt idx="4">
                  <c:v>21.5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IN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전기차는 해마다 15만 대 안팎씩 꾸준히 늘고 있다.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2030년 전후부터 보증이 끝나는 배터리를 고치고 재활용할 기술자가 필요하다.</a:t>
            </a:r>
            <a:endParaRPr lang="en-US" sz="2400" dirty="0"/>
          </a:p>
        </p:txBody>
      </p:sp>
      <p:sp>
        <p:nvSpPr>
          <p:cNvPr id="6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8" name="발표자"/>
          <p:cNvSpPr txBox="1"/>
          <p:nvPr/>
        </p:nvSpPr>
        <p:spPr>
          <a:xfrm>
            <a:off x="685800" y="32461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2학년 ○반 ○번 ○○○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진로: 전기차 배터리 엔지니어</a:t>
            </a:r>
            <a:endParaRPr lang="en-US" sz="1600" dirty="0"/>
          </a:p>
        </p:txBody>
      </p:sp>
      <p:sp>
        <p:nvSpPr>
          <p:cNvPr id="9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1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《숫자는 어떻게 진실을 말하는가》 바츨라프 스밀</a:t>
            </a:r>
            <a:endParaRPr lang="en-US" sz="1500" dirty="0"/>
          </a:p>
        </p:txBody>
      </p:sp>
      <p:sp>
        <p:nvSpPr>
          <p:cNvPr id="12" name="도서 연계"/>
          <p:cNvSpPr txBox="1"/>
          <p:nvPr/>
        </p:nvSpPr>
        <p:spPr>
          <a:xfrm>
            <a:off x="4983480" y="37033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증가율로 미래를 과장하지 말라는 조언을 따라 '몇 %'가 아니라 '해마다 몇 대'를 직접 계산해 봤다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96012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0058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기관: 국토교통부  ·  조사 이름: 「자동차등록현황보고」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대상: 등록된 모든 자동차(매월 말 집계, 여기서는 연말 값) → 모두 조사(전수). 등록 자료를 집계한 보고통계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얻는 길: index.go.kr(e-나라지표) → '자동차 등록현황' → 연료별  (또는 kosis.kr → 교통·물류 → 자동차등록현황보고, stat.molit.go.kr)</a:t>
            </a:r>
            <a:endParaRPr lang="en-US" sz="1100" dirty="0"/>
          </a:p>
        </p:txBody>
      </p:sp>
      <p:sp>
        <p:nvSpPr>
          <p:cNvPr id="7" name="원자료 라벨"/>
          <p:cNvSpPr txBox="1"/>
          <p:nvPr/>
        </p:nvSpPr>
        <p:spPr>
          <a:xfrm>
            <a:off x="457200" y="20848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원자료 표 (일부 발췌, 연료별 등록 대수, 단위: 천 대)</a:t>
            </a:r>
            <a:endParaRPr lang="en-US" sz="1050" dirty="0"/>
          </a:p>
        </p:txBody>
      </p:sp>
      <p:graphicFrame>
        <p:nvGraphicFramePr>
          <p:cNvPr id="3" name="원자료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59152"/>
          <a:ext cx="4114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연료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합계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26,298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26,515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휘발유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경유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하이브리드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2,024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2,550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전기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135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231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390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544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684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899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수소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원자료 안내"/>
          <p:cNvSpPr txBox="1"/>
          <p:nvPr/>
        </p:nvSpPr>
        <p:spPr>
          <a:xfrm>
            <a:off x="457200" y="40050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e-나라지표 '자동차 등록현황' → 연료별 표. LPG·CNG 등 다른 연료 행 생략. …은 옮기지 않은 칸</a:t>
            </a:r>
            <a:endParaRPr lang="en-US" sz="900" dirty="0"/>
          </a:p>
        </p:txBody>
      </p:sp>
      <p:sp>
        <p:nvSpPr>
          <p:cNvPr id="10" name="화살표"/>
          <p:cNvSpPr txBox="1"/>
          <p:nvPr/>
        </p:nvSpPr>
        <p:spPr>
          <a:xfrm>
            <a:off x="457200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가공표 라벨"/>
          <p:cNvSpPr txBox="1"/>
          <p:nvPr/>
        </p:nvSpPr>
        <p:spPr>
          <a:xfrm>
            <a:off x="502920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내가 다시 만든 표 (단위: 만 대)</a:t>
            </a:r>
            <a:endParaRPr lang="en-US" sz="1050" dirty="0"/>
          </a:p>
        </p:txBody>
      </p:sp>
      <p:graphicFrame>
        <p:nvGraphicFramePr>
          <p:cNvPr id="5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359152"/>
          <a:ext cx="3657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28016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연도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누적 등록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그해 증가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13.5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-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23.1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9.6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39.0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15.9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54.4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15.4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68.4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14.0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89.9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21.5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가공 안내"/>
          <p:cNvSpPr txBox="1"/>
          <p:nvPr/>
        </p:nvSpPr>
        <p:spPr>
          <a:xfrm>
            <a:off x="5029200" y="40690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전기 한 줄만 고르고 천 대 → 만 대로 바꿨다. '그해 증가'는 올해 누적 − 작년 누적으로 직접 계산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graphicFrame>
        <p:nvGraphicFramePr>
          <p:cNvPr id="5" name="연말 전기차 누적 등록 대수 (단위: 만 대)" descr=""/>
          <p:cNvGraphicFramePr/>
          <p:nvPr/>
        </p:nvGraphicFramePr>
        <p:xfrm>
          <a:off x="457200" y="960120"/>
          <a:ext cx="40233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그해 늘어난 전기차 (단위: 만 대)" descr=""/>
          <p:cNvGraphicFramePr/>
          <p:nvPr/>
        </p:nvGraphicFramePr>
        <p:xfrm>
          <a:off x="4663440" y="960120"/>
          <a:ext cx="40233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해석 카드 1"/>
          <p:cNvSpPr/>
          <p:nvPr/>
        </p:nvSpPr>
        <p:spPr>
          <a:xfrm>
            <a:off x="45720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해석 라벨 1"/>
          <p:cNvSpPr txBox="1"/>
          <p:nvPr/>
        </p:nvSpPr>
        <p:spPr>
          <a:xfrm>
            <a:off x="60350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① 숫자로 말하기</a:t>
            </a:r>
            <a:endParaRPr lang="en-US" sz="1000" dirty="0"/>
          </a:p>
        </p:txBody>
      </p:sp>
      <p:sp>
        <p:nvSpPr>
          <p:cNvPr id="9" name="해석 1"/>
          <p:cNvSpPr txBox="1"/>
          <p:nvPr/>
        </p:nvSpPr>
        <p:spPr>
          <a:xfrm>
            <a:off x="60350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13.5만 → 89.9만 대(2020→2025), +76.4만 대. 그해 증가는 9.6, 15.9, 15.4, 14.0, 21.5만 대로 2022년부터 14만~22만 대씩 꾸준히 늘었다</a:t>
            </a:r>
            <a:endParaRPr lang="en-US" sz="950" dirty="0"/>
          </a:p>
        </p:txBody>
      </p:sp>
      <p:sp>
        <p:nvSpPr>
          <p:cNvPr id="10" name="해석 카드 2"/>
          <p:cNvSpPr/>
          <p:nvPr/>
        </p:nvSpPr>
        <p:spPr>
          <a:xfrm>
            <a:off x="324612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해석 라벨 2"/>
          <p:cNvSpPr txBox="1"/>
          <p:nvPr/>
        </p:nvSpPr>
        <p:spPr>
          <a:xfrm>
            <a:off x="339242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② 의견 또는 추측</a:t>
            </a:r>
            <a:endParaRPr lang="en-US" sz="1000" dirty="0"/>
          </a:p>
        </p:txBody>
      </p:sp>
      <p:sp>
        <p:nvSpPr>
          <p:cNvPr id="12" name="해석 2"/>
          <p:cNvSpPr txBox="1"/>
          <p:nvPr/>
        </p:nvSpPr>
        <p:spPr>
          <a:xfrm>
            <a:off x="339242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이렇게 쌓인 전기차의 배터리는 보증이 끝나는 8~10년 뒤부터 점검·교체·재활용 대상이 된다. 2030년 전후부터 해마다 10만 개가 넘는 배터리가 나와, 정비·재활용 인력이 부족해질 것이라고 추측한다</a:t>
            </a:r>
            <a:endParaRPr lang="en-US" sz="950" dirty="0"/>
          </a:p>
        </p:txBody>
      </p:sp>
      <p:sp>
        <p:nvSpPr>
          <p:cNvPr id="13" name="해석 카드 3"/>
          <p:cNvSpPr/>
          <p:nvPr/>
        </p:nvSpPr>
        <p:spPr>
          <a:xfrm>
            <a:off x="603504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해석 라벨 3"/>
          <p:cNvSpPr txBox="1"/>
          <p:nvPr/>
        </p:nvSpPr>
        <p:spPr>
          <a:xfrm>
            <a:off x="618134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③ 의견·추측의 근거</a:t>
            </a:r>
            <a:endParaRPr lang="en-US" sz="1000" dirty="0"/>
          </a:p>
        </p:txBody>
      </p:sp>
      <p:sp>
        <p:nvSpPr>
          <p:cNvPr id="15" name="해석 3"/>
          <p:cNvSpPr txBox="1"/>
          <p:nvPr/>
        </p:nvSpPr>
        <p:spPr>
          <a:xfrm>
            <a:off x="618134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제조사 보증은 8~10년(현대·기아 10년/20만 km, 테슬라 8년/16만 km). 보증이 끝나는 배터리 수 = 8~10년 전 그해 등록 대수: 2021년 9.6만, 2022년 15.9만, 2023년 15.4만 대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96012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051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3441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전기차는 5년 동안 76.4만 대, 해마다 15만 대 안팎씩 늘었고 2025년에는 21.5만 대가 늘었다. 증가율이 낮아져도 늘어나는 대수는 줄지 않았다.</a:t>
            </a:r>
            <a:endParaRPr lang="en-US" sz="13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286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 분석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57860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배터리 보증은 현대·기아 10년/20만km, 테슬라 8년/16만km. 보증이 끝나는 배터리 수는 8~10년 전 그해 등록 대수와 같으므로, 2021~2023년 등록분(9.6·15.9·15.4만 대)이 2029~2033년에 차례로 만료된다.</a:t>
            </a:r>
            <a:endParaRPr lang="en-US" sz="13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42900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결론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81304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2030년 전후부터 해마다 10만 개 넘는 배터리가 점검·교체·재활용 대상이 되어 기술자가 부족해진다. 배터리를 진단·수리·재활용할 기술자를 지금부터 길러야 한다.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예시 (전기차 배터리 엔지니어 지망)</dc:title>
  <dc:subject>2학년 확률과 통계 수행평가 통계독서탐구</dc:subject>
  <dc:creator>PptxGenJS</dc:creator>
  <cp:lastModifiedBy>PptxGenJS</cp:lastModifiedBy>
  <cp:revision>1</cp:revision>
  <dcterms:created xsi:type="dcterms:W3CDTF">2026-10-26T00:35:16Z</dcterms:created>
  <dcterms:modified xsi:type="dcterms:W3CDTF">2026-10-26T00:35:16Z</dcterms:modified>
</cp:coreProperties>
</file>