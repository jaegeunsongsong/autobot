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발표" id="{56e5229d-8b16-88c6-eb28-3afba5ca421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11D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211D"/>
                </a:solidFill>
                <a:latin typeface="+mn-lt"/>
              </a:rPr>
              <a:t>연말 전기차 누적 등록 대수 (단위: 만 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13.5</c:v>
                </c:pt>
                <c:pt idx="1">
                  <c:v>23.1</c:v>
                </c:pt>
                <c:pt idx="2">
                  <c:v>39</c:v>
                </c:pt>
                <c:pt idx="3">
                  <c:v>54.4</c:v>
                </c:pt>
                <c:pt idx="4">
                  <c:v>68.4</c:v>
                </c:pt>
                <c:pt idx="5">
                  <c:v>89.9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B21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11D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211D"/>
                </a:solidFill>
                <a:latin typeface="+mn-lt"/>
              </a:rPr>
              <a:t>그해 늘어난 전기차 (단위: 만 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그해 증가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9.6</c:v>
                </c:pt>
                <c:pt idx="1">
                  <c:v>15.9</c:v>
                </c:pt>
                <c:pt idx="2">
                  <c:v>15.4</c:v>
                </c:pt>
                <c:pt idx="3">
                  <c:v>14</c:v>
                </c:pt>
                <c:pt idx="4">
                  <c:v>21.5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B21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IN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나의 주장과 참고 도서</a:t>
            </a:r>
            <a:endParaRPr lang="en-US" sz="2400" dirty="0"/>
          </a:p>
        </p:txBody>
      </p:sp>
      <p:sp>
        <p:nvSpPr>
          <p:cNvPr id="3" name="번호 1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1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주장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전기차는 해마다 15만 대 안팎씩 꾸준히 늘고 있다.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10년 뒤 쏟아질 배터리를 고치고 재활용할 기술자가 필요하다.</a:t>
            </a:r>
            <a:endParaRPr lang="en-US" sz="2400" dirty="0"/>
          </a:p>
        </p:txBody>
      </p:sp>
      <p:sp>
        <p:nvSpPr>
          <p:cNvPr id="6" name="발표자 카드"/>
          <p:cNvSpPr/>
          <p:nvPr/>
        </p:nvSpPr>
        <p:spPr>
          <a:xfrm>
            <a:off x="45720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발표자 라벨"/>
          <p:cNvSpPr txBox="1"/>
          <p:nvPr/>
        </p:nvSpPr>
        <p:spPr>
          <a:xfrm>
            <a:off x="6858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발표자</a:t>
            </a:r>
            <a:endParaRPr lang="en-US" sz="1100" dirty="0"/>
          </a:p>
        </p:txBody>
      </p:sp>
      <p:sp>
        <p:nvSpPr>
          <p:cNvPr id="8" name="발표자"/>
          <p:cNvSpPr txBox="1"/>
          <p:nvPr/>
        </p:nvSpPr>
        <p:spPr>
          <a:xfrm>
            <a:off x="68580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2학년 ○반 ○번 ○○○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진로: 전기차 배터리 엔지니어</a:t>
            </a:r>
            <a:endParaRPr lang="en-US" sz="1600" dirty="0"/>
          </a:p>
        </p:txBody>
      </p:sp>
      <p:sp>
        <p:nvSpPr>
          <p:cNvPr id="9" name="참고 도서 카드"/>
          <p:cNvSpPr/>
          <p:nvPr/>
        </p:nvSpPr>
        <p:spPr>
          <a:xfrm>
            <a:off x="475488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참고 도서 라벨"/>
          <p:cNvSpPr txBox="1"/>
          <p:nvPr/>
        </p:nvSpPr>
        <p:spPr>
          <a:xfrm>
            <a:off x="49834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참고 도서</a:t>
            </a:r>
            <a:endParaRPr lang="en-US" sz="1100" dirty="0"/>
          </a:p>
        </p:txBody>
      </p:sp>
      <p:sp>
        <p:nvSpPr>
          <p:cNvPr id="11" name="도서명"/>
          <p:cNvSpPr txBox="1"/>
          <p:nvPr/>
        </p:nvSpPr>
        <p:spPr>
          <a:xfrm>
            <a:off x="49834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《숫자는 어떻게 진실을 말하는가》 바츨라프 스밀</a:t>
            </a:r>
            <a:endParaRPr lang="en-US" sz="1500" dirty="0"/>
          </a:p>
        </p:txBody>
      </p:sp>
      <p:sp>
        <p:nvSpPr>
          <p:cNvPr id="12" name="도서 연계"/>
          <p:cNvSpPr txBox="1"/>
          <p:nvPr/>
        </p:nvSpPr>
        <p:spPr>
          <a:xfrm>
            <a:off x="498348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증가율 하나로 미래를 과장하지 말라는 경고를 따라, '몇 %'가 아니라 '해마다 몇 대'를 봤다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1장 설명 · 핵심 요약</a:t>
            </a:r>
            <a:endParaRPr lang="en-US" sz="2400" dirty="0"/>
          </a:p>
        </p:txBody>
      </p:sp>
      <p:sp>
        <p:nvSpPr>
          <p:cNvPr id="3" name="설명 배지 1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1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1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1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이 장이 보여 주는 것</a:t>
            </a:r>
            <a:endParaRPr lang="en-US" sz="1150" dirty="0"/>
          </a:p>
        </p:txBody>
      </p:sp>
      <p:sp>
        <p:nvSpPr>
          <p:cNvPr id="7" name="설명 내용 1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주장 한 문장과 참고 도서 한 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'급증'도 '주춤'도 아닌, 숫자로 확인한 '꾸준한 증가'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진로(배터리 엔지니어)와 자료(등록 통계) 연결</a:t>
            </a:r>
            <a:endParaRPr lang="en-US" sz="1050" dirty="0"/>
          </a:p>
        </p:txBody>
      </p:sp>
      <p:sp>
        <p:nvSpPr>
          <p:cNvPr id="8" name="설명 카드 1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1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책과의 연결</a:t>
            </a:r>
            <a:endParaRPr lang="en-US" sz="1150" dirty="0"/>
          </a:p>
        </p:txBody>
      </p:sp>
      <p:sp>
        <p:nvSpPr>
          <p:cNvPr id="10" name="설명 내용 1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스밀은 에너지·자동차의 큰 흐름을 숫자로 잰다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초기의 높은 증가율을 미래로 늘려 잡지 말라 → 증가율 대신 증가 대수를 계산했다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그래프 세로축을 0부터 그린 것도 같은 이유</a:t>
            </a:r>
            <a:endParaRPr lang="en-US" sz="1050" dirty="0"/>
          </a:p>
        </p:txBody>
      </p:sp>
      <p:sp>
        <p:nvSpPr>
          <p:cNvPr id="11" name="설명 카드 1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1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실제로 읽을 분량</a:t>
            </a:r>
            <a:endParaRPr lang="en-US" sz="1150" dirty="0"/>
          </a:p>
        </p:txBody>
      </p:sp>
      <p:sp>
        <p:nvSpPr>
          <p:cNvPr id="13" name="설명 내용 1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에너지와 자동차를 다룬 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통계·데이터를 다룬 다른 책도 가능</a:t>
            </a:r>
            <a:endParaRPr lang="en-US" sz="1050" dirty="0"/>
          </a:p>
        </p:txBody>
      </p:sp>
      <p:sp>
        <p:nvSpPr>
          <p:cNvPr id="14" name="설명 카드 1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1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1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1번 도서 20점: 도서명·저자 + 이어지는 내용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책의 경고가 2장·3장의 계산 방식으로 이어지면 충분하다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자료 출처와 내가 만든 표</a:t>
            </a:r>
            <a:endParaRPr lang="en-US" sz="2400" dirty="0"/>
          </a:p>
        </p:txBody>
      </p:sp>
      <p:sp>
        <p:nvSpPr>
          <p:cNvPr id="3" name="번호 2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2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출처 카드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출처"/>
          <p:cNvSpPr txBox="1"/>
          <p:nvPr/>
        </p:nvSpPr>
        <p:spPr>
          <a:xfrm>
            <a:off x="640080" y="102412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기관: 국토교통부  ·  조사 이름: 「자동차등록현황보고」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대상: 등록된 모든 자동차(매월 말 집계, 여기서는 연말 값)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조사 방식: 모두 조사(전수). 등록 자료를 집계한 보고통계라 표본 오차가 없다</a:t>
            </a:r>
            <a:endParaRPr lang="en-US" sz="1100" dirty="0"/>
          </a:p>
        </p:txBody>
      </p:sp>
      <p:sp>
        <p:nvSpPr>
          <p:cNvPr id="7" name="원자료 라벨"/>
          <p:cNvSpPr txBox="1"/>
          <p:nvPr/>
        </p:nvSpPr>
        <p:spPr>
          <a:xfrm>
            <a:off x="457200" y="1901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원자료 표 (일부 발췌, 연료별 등록 대수, 단위: 천 대)</a:t>
            </a:r>
            <a:endParaRPr lang="en-US" sz="1050" dirty="0"/>
          </a:p>
        </p:txBody>
      </p:sp>
      <p:graphicFrame>
        <p:nvGraphicFramePr>
          <p:cNvPr id="4" name="원자료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76272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연료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2021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2022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2023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합계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26,298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26,515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휘발유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경유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하이브리드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2,024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2,550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전기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135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231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390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544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684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899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수소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원자료 안내"/>
          <p:cNvSpPr txBox="1"/>
          <p:nvPr/>
        </p:nvSpPr>
        <p:spPr>
          <a:xfrm>
            <a:off x="457200" y="38221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e-나라지표 '자동차 등록현황' → 연료별 표. LPG·CNG 등 다른 연료 행 생략. …은 옮기지 않은 칸</a:t>
            </a:r>
            <a:endParaRPr lang="en-US" sz="900" dirty="0"/>
          </a:p>
        </p:txBody>
      </p:sp>
      <p:sp>
        <p:nvSpPr>
          <p:cNvPr id="10" name="화살표"/>
          <p:cNvSpPr txBox="1"/>
          <p:nvPr/>
        </p:nvSpPr>
        <p:spPr>
          <a:xfrm>
            <a:off x="45720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가공표 라벨"/>
          <p:cNvSpPr txBox="1"/>
          <p:nvPr/>
        </p:nvSpPr>
        <p:spPr>
          <a:xfrm>
            <a:off x="502920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내가 다시 만든 표 (단위: 만 대)</a:t>
            </a:r>
            <a:endParaRPr lang="en-US" sz="1050" dirty="0"/>
          </a:p>
        </p:txBody>
      </p:sp>
      <p:graphicFrame>
        <p:nvGraphicFramePr>
          <p:cNvPr id="7" name="내가 만든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76272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연도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누적 등록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그해 증가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13.5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23.1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9.6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39.0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15.9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2023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54.4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15.4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68.4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14.0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89.9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21.5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가공 안내"/>
          <p:cNvSpPr txBox="1"/>
          <p:nvPr/>
        </p:nvSpPr>
        <p:spPr>
          <a:xfrm>
            <a:off x="502920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전기 한 줄만 고르고 천 대 → 만 대로 바꿨다. '그해 증가'는 올해 누적 − 작년 누적으로 직접 계산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2장 설명 · 핵심 요약</a:t>
            </a:r>
            <a:endParaRPr lang="en-US" sz="2400" dirty="0"/>
          </a:p>
        </p:txBody>
      </p:sp>
      <p:sp>
        <p:nvSpPr>
          <p:cNvPr id="3" name="설명 배지 2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2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2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2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실재하는 자료다</a:t>
            </a:r>
            <a:endParaRPr lang="en-US" sz="1150" dirty="0"/>
          </a:p>
        </p:txBody>
      </p:sp>
      <p:sp>
        <p:nvSpPr>
          <p:cNvPr id="7" name="설명 내용 2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국토교통부가 매월 발표하는 자동차 등록 통계(국가승인통계)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연료별(휘발유·경유·LPG·하이브리드·전기·수소) 대수가 있다</a:t>
            </a:r>
            <a:endParaRPr lang="en-US" sz="1050" dirty="0"/>
          </a:p>
        </p:txBody>
      </p:sp>
      <p:sp>
        <p:nvSpPr>
          <p:cNvPr id="8" name="설명 카드 2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2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얻는 길</a:t>
            </a:r>
            <a:endParaRPr lang="en-US" sz="1150" dirty="0"/>
          </a:p>
        </p:txBody>
      </p:sp>
      <p:sp>
        <p:nvSpPr>
          <p:cNvPr id="10" name="설명 내용 2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e-나라지표(index.go.kr) → '자동차 등록현황' → 연료별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또는 KOSIS → 교통·물류 → 자동차등록현황보고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국토교통부 통계누리(stat.molit.go.kr)에 월별 표</a:t>
            </a:r>
            <a:endParaRPr lang="en-US" sz="1050" dirty="0"/>
          </a:p>
        </p:txBody>
      </p:sp>
      <p:sp>
        <p:nvSpPr>
          <p:cNvPr id="11" name="설명 카드 2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2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원자료 → 가공</a:t>
            </a:r>
            <a:endParaRPr lang="en-US" sz="1150" dirty="0"/>
          </a:p>
        </p:txBody>
      </p:sp>
      <p:sp>
        <p:nvSpPr>
          <p:cNvPr id="13" name="설명 내용 2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전기 한 줄만 고르고, 천 대 → 만 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'그해 증가'는 누적의 차이를 직접 계산해 넣은 열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증가율(71%→31%)은 분모가 커져 낮아 보일 뿐, 증가 대수는 14만~22만 대로 거의 일정(등차)</a:t>
            </a:r>
            <a:endParaRPr lang="en-US" sz="1050" dirty="0"/>
          </a:p>
        </p:txBody>
      </p:sp>
      <p:sp>
        <p:nvSpPr>
          <p:cNvPr id="14" name="설명 카드 2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2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2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2-① 기관·조사 이름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2-② 전수의 근거: '등록 자료 전체', '보고통계'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2-③ 직접 계산한 열도 표에 넣을 수 있다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그래프와 해석</a:t>
            </a:r>
            <a:endParaRPr lang="en-US" sz="2400" dirty="0"/>
          </a:p>
        </p:txBody>
      </p:sp>
      <p:sp>
        <p:nvSpPr>
          <p:cNvPr id="3" name="번호 3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3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graphicFrame>
        <p:nvGraphicFramePr>
          <p:cNvPr id="5" name="연말 전기차 누적 등록 대수 (단위: 만 대)" descr=""/>
          <p:cNvGraphicFramePr/>
          <p:nvPr/>
        </p:nvGraphicFramePr>
        <p:xfrm>
          <a:off x="457200" y="960120"/>
          <a:ext cx="4023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그해 늘어난 전기차 (단위: 만 대)" descr=""/>
          <p:cNvGraphicFramePr/>
          <p:nvPr/>
        </p:nvGraphicFramePr>
        <p:xfrm>
          <a:off x="4663440" y="960120"/>
          <a:ext cx="4023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해석 카드 1"/>
          <p:cNvSpPr/>
          <p:nvPr/>
        </p:nvSpPr>
        <p:spPr>
          <a:xfrm>
            <a:off x="45720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해석 라벨 1"/>
          <p:cNvSpPr txBox="1"/>
          <p:nvPr/>
        </p:nvSpPr>
        <p:spPr>
          <a:xfrm>
            <a:off x="60350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① 숫자로 말하기</a:t>
            </a:r>
            <a:endParaRPr lang="en-US" sz="1000" dirty="0"/>
          </a:p>
        </p:txBody>
      </p:sp>
      <p:sp>
        <p:nvSpPr>
          <p:cNvPr id="9" name="해석 1"/>
          <p:cNvSpPr txBox="1"/>
          <p:nvPr/>
        </p:nvSpPr>
        <p:spPr>
          <a:xfrm>
            <a:off x="60350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13.5만 → 89.9만 대(2020→2025), +76.4만 대. 그해 증가는 9.6, 15.9, 15.4, 14.0, 21.5만 대로 2022년부터 14만~22만 대씩 꾸준히 늘었다</a:t>
            </a:r>
            <a:endParaRPr lang="en-US" sz="950" dirty="0"/>
          </a:p>
        </p:txBody>
      </p:sp>
      <p:sp>
        <p:nvSpPr>
          <p:cNvPr id="10" name="해석 카드 2"/>
          <p:cNvSpPr/>
          <p:nvPr/>
        </p:nvSpPr>
        <p:spPr>
          <a:xfrm>
            <a:off x="324612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해석 라벨 2"/>
          <p:cNvSpPr txBox="1"/>
          <p:nvPr/>
        </p:nvSpPr>
        <p:spPr>
          <a:xfrm>
            <a:off x="339242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② 왜 그렇게 되었을까, 내 의견</a:t>
            </a:r>
            <a:endParaRPr lang="en-US" sz="1000" dirty="0"/>
          </a:p>
        </p:txBody>
      </p:sp>
      <p:sp>
        <p:nvSpPr>
          <p:cNvPr id="12" name="해석 2"/>
          <p:cNvSpPr txBox="1"/>
          <p:nvPr/>
        </p:nvSpPr>
        <p:spPr>
          <a:xfrm>
            <a:off x="339242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보조금이 줄어도 차종과 충전기가 늘어 해마다 비슷한 수가 새로 들어온다. 2025년에는 가장 많이 늘었다</a:t>
            </a:r>
            <a:endParaRPr lang="en-US" sz="950" dirty="0"/>
          </a:p>
        </p:txBody>
      </p:sp>
      <p:sp>
        <p:nvSpPr>
          <p:cNvPr id="13" name="해석 카드 3"/>
          <p:cNvSpPr/>
          <p:nvPr/>
        </p:nvSpPr>
        <p:spPr>
          <a:xfrm>
            <a:off x="603504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해석 라벨 3"/>
          <p:cNvSpPr txBox="1"/>
          <p:nvPr/>
        </p:nvSpPr>
        <p:spPr>
          <a:xfrm>
            <a:off x="618134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③ 내 의견의 근거</a:t>
            </a:r>
            <a:endParaRPr lang="en-US" sz="1000" dirty="0"/>
          </a:p>
        </p:txBody>
      </p:sp>
      <p:sp>
        <p:nvSpPr>
          <p:cNvPr id="15" name="해석 3"/>
          <p:cNvSpPr txBox="1"/>
          <p:nvPr/>
        </p:nvSpPr>
        <p:spPr>
          <a:xfrm>
            <a:off x="618134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배터리 보증은 보통 8~10년(현대·기아 10년/20만 km, 테슬라 8년/16만 km). 2020~2023년에 등록된 54.4만 대의 보증이 2028~2033년에 끝난다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3장 설명 · 핵심 요약</a:t>
            </a:r>
            <a:endParaRPr lang="en-US" sz="2400" dirty="0"/>
          </a:p>
        </p:txBody>
      </p:sp>
      <p:sp>
        <p:nvSpPr>
          <p:cNvPr id="3" name="설명 배지 3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3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3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3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그래프 둘을 나란히</a:t>
            </a:r>
            <a:endParaRPr lang="en-US" sz="1150" dirty="0"/>
          </a:p>
        </p:txBody>
      </p:sp>
      <p:sp>
        <p:nvSpPr>
          <p:cNvPr id="7" name="설명 내용 3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왼쪽 누적(얼마나 쌓였나), 오른쪽 그해 증가(해마다 얼마나)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같은 자료를 두 눈으로 본다. 두 축을 한 그래프에 겹치지 않는다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세로축은 둘 다 0부터</a:t>
            </a:r>
            <a:endParaRPr lang="en-US" sz="1050" dirty="0"/>
          </a:p>
        </p:txBody>
      </p:sp>
      <p:sp>
        <p:nvSpPr>
          <p:cNvPr id="8" name="설명 카드 3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3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증가율 대신 증가 대수</a:t>
            </a:r>
            <a:endParaRPr lang="en-US" sz="1150" dirty="0"/>
          </a:p>
        </p:txBody>
      </p:sp>
      <p:sp>
        <p:nvSpPr>
          <p:cNvPr id="10" name="설명 내용 3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증가율은 분모(누적)가 커질수록 낮아진다(71%→26%→31%)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증가 대수는 2022년 이후 14만~22만 대로 거의 등차 → '둔화'가 아니라 '꾸준함'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스밀의 경고가 여기서 쓰였다</a:t>
            </a:r>
            <a:endParaRPr lang="en-US" sz="1050" dirty="0"/>
          </a:p>
        </p:txBody>
      </p:sp>
      <p:sp>
        <p:nvSpPr>
          <p:cNvPr id="11" name="설명 카드 3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3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근거 자료는 어디서</a:t>
            </a:r>
            <a:endParaRPr lang="en-US" sz="1150" dirty="0"/>
          </a:p>
        </p:txBody>
      </p:sp>
      <p:sp>
        <p:nvSpPr>
          <p:cNvPr id="13" name="설명 내용 3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제조사 누리집의 보증 안내(고전압 배터리: 현대·기아 10년/20만 km, 테슬라 8년/16만 km)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보증 종료 = 점검·교체·재활용 수요의 시작</a:t>
            </a:r>
            <a:endParaRPr lang="en-US" sz="1050" dirty="0"/>
          </a:p>
        </p:txBody>
      </p:sp>
      <p:sp>
        <p:nvSpPr>
          <p:cNvPr id="14" name="설명 카드 3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3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3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2-④ 세로축 0부터, 제목·단위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3-① 차이·배와 해마다의 증가 대수  3-② 의견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3-③ 출처가 있는 근거(보증 기간)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결론</a:t>
            </a:r>
            <a:endParaRPr lang="en-US" sz="2400" dirty="0"/>
          </a:p>
        </p:txBody>
      </p:sp>
      <p:sp>
        <p:nvSpPr>
          <p:cNvPr id="3" name="번호 4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4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결론 카드 1"/>
          <p:cNvSpPr/>
          <p:nvPr/>
        </p:nvSpPr>
        <p:spPr>
          <a:xfrm>
            <a:off x="457200" y="96012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결론 라벨 1"/>
          <p:cNvSpPr txBox="1"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통계가 보여 준 것</a:t>
            </a:r>
            <a:endParaRPr lang="en-US" sz="1100" dirty="0"/>
          </a:p>
        </p:txBody>
      </p:sp>
      <p:sp>
        <p:nvSpPr>
          <p:cNvPr id="7" name="결론 1"/>
          <p:cNvSpPr txBox="1"/>
          <p:nvPr/>
        </p:nvSpPr>
        <p:spPr>
          <a:xfrm>
            <a:off x="685800" y="1344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전기차는 5년 동안 76.4만 대, 해마다 15만 대 안팎씩 늘었고 2025년에는 21.5만 대가 늘었다. 증가율이 낮아져도 늘어나는 대수는 줄지 않았다.</a:t>
            </a:r>
            <a:endParaRPr lang="en-US" sz="1300" dirty="0"/>
          </a:p>
        </p:txBody>
      </p:sp>
      <p:sp>
        <p:nvSpPr>
          <p:cNvPr id="8" name="결론 카드 2"/>
          <p:cNvSpPr/>
          <p:nvPr/>
        </p:nvSpPr>
        <p:spPr>
          <a:xfrm>
            <a:off x="457200" y="219456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결론 라벨 2"/>
          <p:cNvSpPr txBox="1"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그래서 나의 주장</a:t>
            </a:r>
            <a:endParaRPr lang="en-US" sz="1100" dirty="0"/>
          </a:p>
        </p:txBody>
      </p:sp>
      <p:sp>
        <p:nvSpPr>
          <p:cNvPr id="10" name="결론 2"/>
          <p:cNvSpPr txBox="1"/>
          <p:nvPr/>
        </p:nvSpPr>
        <p:spPr>
          <a:xfrm>
            <a:off x="685800" y="25786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해마다 15만 대씩 늘면 2030년 누적은 약 165만 대가 된다. 2030년 전후부터는 보증이 끝나는 배터리가 해마다 10만 개를 넘는다(2021년 9.6만, 2022년 15.9만 대 등록분). 배터리를 진단·수리·재활용하는 기술자가 지금보다 훨씬 많이 필요하다.</a:t>
            </a:r>
            <a:endParaRPr lang="en-US" sz="1300" dirty="0"/>
          </a:p>
        </p:txBody>
      </p:sp>
      <p:sp>
        <p:nvSpPr>
          <p:cNvPr id="11" name="결론 카드 3"/>
          <p:cNvSpPr/>
          <p:nvPr/>
        </p:nvSpPr>
        <p:spPr>
          <a:xfrm>
            <a:off x="457200" y="342900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결론 라벨 3"/>
          <p:cNvSpPr txBox="1"/>
          <p:nvPr/>
        </p:nvSpPr>
        <p:spPr>
          <a:xfrm>
            <a:off x="6858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제안</a:t>
            </a:r>
            <a:endParaRPr lang="en-US" sz="1100" dirty="0"/>
          </a:p>
        </p:txBody>
      </p:sp>
      <p:sp>
        <p:nvSpPr>
          <p:cNvPr id="13" name="결론 3"/>
          <p:cNvSpPr txBox="1"/>
          <p:nvPr/>
        </p:nvSpPr>
        <p:spPr>
          <a:xfrm>
            <a:off x="685800" y="381304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나는 배터리 공학(전기·화학)을 전공한다. 학교 진로 시간에 전기차 정비·배터리 재활용 직업을 소개하는 자료를 만들어 공유하겠다.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4장 설명 · 핵심 요약</a:t>
            </a:r>
            <a:endParaRPr lang="en-US" sz="2400" dirty="0"/>
          </a:p>
        </p:txBody>
      </p:sp>
      <p:sp>
        <p:nvSpPr>
          <p:cNvPr id="3" name="설명 배지 4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4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4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4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결론의 구조</a:t>
            </a:r>
            <a:endParaRPr lang="en-US" sz="1150" dirty="0"/>
          </a:p>
        </p:txBody>
      </p:sp>
      <p:sp>
        <p:nvSpPr>
          <p:cNvPr id="7" name="설명 내용 4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보여 준 것(숫자) → 주장(전망 + 수요) → 제안(내가 할 일)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주장에 '2030년 약 165만 대', '해마다 10만 개 이상'처럼 숫자를 넣었다</a:t>
            </a:r>
            <a:endParaRPr lang="en-US" sz="1050" dirty="0"/>
          </a:p>
        </p:txBody>
      </p:sp>
      <p:sp>
        <p:nvSpPr>
          <p:cNvPr id="8" name="설명 카드 4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4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전망의 가정을 밝힌다</a:t>
            </a:r>
            <a:endParaRPr lang="en-US" sz="1150" dirty="0"/>
          </a:p>
        </p:txBody>
      </p:sp>
      <p:sp>
        <p:nvSpPr>
          <p:cNvPr id="10" name="설명 내용 4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'해마다 15만 대'는 2022~2024년 평균(15.1만 대)을 그대로 이어 간 가정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가정을 밝히면 과장이 아니다(스밀의 경고)</a:t>
            </a:r>
            <a:endParaRPr lang="en-US" sz="1050" dirty="0"/>
          </a:p>
        </p:txBody>
      </p:sp>
      <p:sp>
        <p:nvSpPr>
          <p:cNvPr id="11" name="설명 카드 4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4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효과 숫자의 근거</a:t>
            </a:r>
            <a:endParaRPr lang="en-US" sz="1150" dirty="0"/>
          </a:p>
        </p:txBody>
      </p:sp>
      <p:sp>
        <p:nvSpPr>
          <p:cNvPr id="13" name="설명 내용 4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보증이 끝나는 배터리 수 = 8~10년 전 그해 등록 대수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2021년 9.6만, 2022년 15.9만, 2023년 15.4만 대 → 2030년 전후 연 10만 개 이상</a:t>
            </a:r>
            <a:endParaRPr lang="en-US" sz="1050" dirty="0"/>
          </a:p>
        </p:txBody>
      </p:sp>
      <p:sp>
        <p:nvSpPr>
          <p:cNvPr id="14" name="설명 카드 4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4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4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4번 발표 20점: 출처·표·그래프·해석이 모두 나오고 결론이 자세할 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결론이 한 문장이면 15점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통계독서탐구">
  <a:themeElements>
    <a:clrScheme name="통계독서탐구">
      <a:dk1>
        <a:srgbClr val="1B211D"/>
      </a:dk1>
      <a:lt1>
        <a:srgbClr val="FFFFFF"/>
      </a:lt1>
      <a:dk2>
        <a:srgbClr val="2F5D50"/>
      </a:dk2>
      <a:lt2>
        <a:srgbClr val="EEF3EF"/>
      </a:lt2>
      <a:accent1>
        <a:srgbClr val="2F5D50"/>
      </a:accent1>
      <a:accent2>
        <a:srgbClr val="2A78D6"/>
      </a:accent2>
      <a:accent3>
        <a:srgbClr val="6B6759"/>
      </a:accent3>
      <a:accent4>
        <a:srgbClr val="B9B4A6"/>
      </a:accent4>
      <a:accent5>
        <a:srgbClr val="E1EBE5"/>
      </a:accent5>
      <a:accent6>
        <a:srgbClr val="F3F1EA"/>
      </a:accent6>
      <a:hlink>
        <a:srgbClr val="2A78D6"/>
      </a:hlink>
      <a:folHlink>
        <a:srgbClr val="6B6759"/>
      </a:folHlink>
    </a:clrScheme>
    <a:fontScheme name="통계독서탐구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통계독서탐구 발표 예시 (전기차 배터리 엔지니어 지망)</dc:title>
  <dc:subject>2학년 확률과 통계 수행평가 통계독서탐구</dc:subject>
  <dc:creator>PptxGenJS</dc:creator>
  <cp:lastModifiedBy>PptxGenJS</cp:lastModifiedBy>
  <cp:revision>1</cp:revision>
  <dcterms:created xsi:type="dcterms:W3CDTF">2026-10-20T02:08:03Z</dcterms:created>
  <dcterms:modified xsi:type="dcterms:W3CDTF">2026-10-20T02:08:03Z</dcterms:modified>
</cp:coreProperties>
</file>