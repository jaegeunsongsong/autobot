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발표" id="{35f25345-19f9-ae9b-b4a9-4b1ee08d6b9d}">
          <p14:sldIdLst>
            <p14:sldId id="256"/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B211D"/>
                </a:solidFill>
                <a:latin typeface="+mn-lt"/>
              </a:rPr>
              <a:t>주 5일 이상 아침식사 결식률 (단위: 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여학생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39.1</c:v>
                </c:pt>
                <c:pt idx="1">
                  <c:v>40.7</c:v>
                </c:pt>
                <c:pt idx="2">
                  <c:v>42.6</c:v>
                </c:pt>
                <c:pt idx="3">
                  <c:v>44.7</c:v>
                </c:pt>
                <c:pt idx="4">
                  <c:v>45.3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남학생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37</c:v>
                </c:pt>
                <c:pt idx="1">
                  <c:v>37.4</c:v>
                </c:pt>
                <c:pt idx="2">
                  <c:v>39.7</c:v>
                </c:pt>
                <c:pt idx="3">
                  <c:v>40.2</c:v>
                </c:pt>
                <c:pt idx="4">
                  <c:v>41.9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950" u="none">
                  <a:solidFill>
                    <a:srgbClr val="1B211D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2514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안녕하세요, 2학년 ○반 ○번 ○○○입니다. 제 주장은 '고등학생의 아침 결식은 해마다 늘고 있으니 학교가 등교 후 먹을 수 있는 간단한 아침을 제공해야 한다'입니다. 참고한 책은 한스 로슬링의 《팩트풀니스》입니다. 의사인 저자는 느낌 대신 숫자로 보라고 했고, 저도 '요즘 애들은 아침을 안 먹는다'는 말을 숫자로 확인했습니다.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[40초] 자료는 질병관리청의 청소년건강행태조사입니다. 매년 전국 800개 중·고등학교 약 6만 명을 뽑아 조사하는 표본조사이므로, 이 숫자는 표본에서 나온 비율을 전체로 미루어 본 것입니다. 원자료에서 주 5일 이상 아침을 거른 비율을 남학생과 여학생으로 나눠 2021년부터 2025년까지 다섯 해만 골라 표로 만들었습니다. 화면은 조사 누리집의 통계표입니다.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[40초] 두 선 모두 오른쪽으로 올라갑니다. 여학생은 2021년 39.1%에서 2025년 45.3%로 6.2%p, 남학생은 37.0%에서 41.9%로 4.9%p 늘었고, 여학생이 매년 더 높습니다. 저는 잠이 부족해서 아침에 먹기보다 자는 쪽을 택한다고 봅니다. 같은 조사에서 잠을 충분히 잔다고 느끼는 비율이 2024년 남학생 27.1%, 여학생 16.5%뿐이었고, 결식률이 높은 여학생이 수면 충족률도 낮았습니다.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정리하면, 아침 결식은 10명 중 4명을 넘고 5년째 늘며 여학생이 더 높습니다. 그래서 집에서 먹으라는 교육보다 등교 후 학교에서 먹을 수 있는 아침이 현실적이라고 주장합니다. 간호사가 되면 환자의 생활 습관을 이렇게 숫자로 묻고 싶습니다. 이상입니다.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 · 2분 발표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나의 주장과 참고 도서</a:t>
            </a:r>
            <a:endParaRPr lang="en-US" sz="2400" dirty="0"/>
          </a:p>
        </p:txBody>
      </p:sp>
      <p:sp>
        <p:nvSpPr>
          <p:cNvPr id="3" name="번호 1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1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주장"/>
          <p:cNvSpPr txBox="1"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고등학생의 아침 결식은 해마다 늘고 있고, 학교가 등교 후 먹을 수 있는 간단한 아침을 제공해야 한다.</a:t>
            </a:r>
            <a:endParaRPr lang="en-US" sz="2400" dirty="0"/>
          </a:p>
        </p:txBody>
      </p:sp>
      <p:sp>
        <p:nvSpPr>
          <p:cNvPr id="6" name="발표자 카드"/>
          <p:cNvSpPr/>
          <p:nvPr/>
        </p:nvSpPr>
        <p:spPr>
          <a:xfrm>
            <a:off x="45720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발표자 라벨"/>
          <p:cNvSpPr txBox="1"/>
          <p:nvPr/>
        </p:nvSpPr>
        <p:spPr>
          <a:xfrm>
            <a:off x="68580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발표자</a:t>
            </a:r>
            <a:endParaRPr lang="en-US" sz="1100" dirty="0"/>
          </a:p>
        </p:txBody>
      </p:sp>
      <p:sp>
        <p:nvSpPr>
          <p:cNvPr id="8" name="발표자"/>
          <p:cNvSpPr txBox="1"/>
          <p:nvPr/>
        </p:nvSpPr>
        <p:spPr>
          <a:xfrm>
            <a:off x="685800" y="32461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2학년 ○반 ○번 ○○○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진로: 간호사</a:t>
            </a:r>
            <a:endParaRPr lang="en-US" sz="1600" dirty="0"/>
          </a:p>
        </p:txBody>
      </p:sp>
      <p:sp>
        <p:nvSpPr>
          <p:cNvPr id="9" name="참고 도서 카드"/>
          <p:cNvSpPr/>
          <p:nvPr/>
        </p:nvSpPr>
        <p:spPr>
          <a:xfrm>
            <a:off x="475488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참고 도서 라벨"/>
          <p:cNvSpPr txBox="1"/>
          <p:nvPr/>
        </p:nvSpPr>
        <p:spPr>
          <a:xfrm>
            <a:off x="498348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참고 도서</a:t>
            </a:r>
            <a:endParaRPr lang="en-US" sz="1100" dirty="0"/>
          </a:p>
        </p:txBody>
      </p:sp>
      <p:sp>
        <p:nvSpPr>
          <p:cNvPr id="11" name="도서명"/>
          <p:cNvSpPr txBox="1"/>
          <p:nvPr/>
        </p:nvSpPr>
        <p:spPr>
          <a:xfrm>
            <a:off x="4983480" y="3246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《팩트풀니스》 한스 로슬링</a:t>
            </a:r>
            <a:endParaRPr lang="en-US" sz="1500" dirty="0"/>
          </a:p>
        </p:txBody>
      </p:sp>
      <p:sp>
        <p:nvSpPr>
          <p:cNvPr id="12" name="도서 연계"/>
          <p:cNvSpPr txBox="1"/>
          <p:nvPr/>
        </p:nvSpPr>
        <p:spPr>
          <a:xfrm>
            <a:off x="4983480" y="37033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의사인 저자는 느낌 대신 숫자로 보라고 한다. 아침 결식이 정말 느는지 숫자로 확인했다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자료 출처와 내가 만든 표</a:t>
            </a:r>
            <a:endParaRPr lang="en-US" sz="2400" dirty="0"/>
          </a:p>
        </p:txBody>
      </p:sp>
      <p:sp>
        <p:nvSpPr>
          <p:cNvPr id="3" name="번호 2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2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5" name="출처 카드"/>
          <p:cNvSpPr/>
          <p:nvPr/>
        </p:nvSpPr>
        <p:spPr>
          <a:xfrm>
            <a:off x="457200" y="1005840"/>
            <a:ext cx="411480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출처"/>
          <p:cNvSpPr txBox="1"/>
          <p:nvPr/>
        </p:nvSpPr>
        <p:spPr>
          <a:xfrm>
            <a:off x="640080" y="11430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기관: 질병관리청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조사 이름: 「청소년건강행태조사」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조사 방식: 일부만 뽑아 조사(표본). 전국 800개교 약 6만 명</a:t>
            </a:r>
            <a:endParaRPr lang="en-US" sz="1200" dirty="0"/>
          </a:p>
        </p:txBody>
      </p:sp>
      <p:sp>
        <p:nvSpPr>
          <p:cNvPr id="7" name="표 안내"/>
          <p:cNvSpPr txBox="1"/>
          <p:nvPr/>
        </p:nvSpPr>
        <p:spPr>
          <a:xfrm>
            <a:off x="457200" y="256032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남·여 두 줄만 골라 다시 만든 표 (단위: %)</a:t>
            </a:r>
            <a:endParaRPr lang="en-US" sz="1100" dirty="0"/>
          </a:p>
        </p:txBody>
      </p:sp>
      <p:graphicFrame>
        <p:nvGraphicFramePr>
          <p:cNvPr id="3" name="내가 만든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52928"/>
          <a:ext cx="4114800" cy="914400"/>
        </p:xfrm>
        <a:graphic>
          <a:graphicData uri="http://schemas.openxmlformats.org/drawingml/2006/table">
            <a:tbl>
              <a:tblPr/>
              <a:tblGrid>
                <a:gridCol w="877824"/>
                <a:gridCol w="539496"/>
                <a:gridCol w="539496"/>
                <a:gridCol w="539496"/>
                <a:gridCol w="539496"/>
                <a:gridCol w="539496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연도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남학생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37.0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37.4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39.7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40.2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41.9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여학생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39.1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40.7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42.6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44.7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45.3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표 읽기"/>
          <p:cNvSpPr txBox="1"/>
          <p:nvPr/>
        </p:nvSpPr>
        <p:spPr>
          <a:xfrm>
            <a:off x="457200" y="395020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둘 다 해마다 늘고, 여학생이 매년 더 높다</a:t>
            </a:r>
            <a:endParaRPr lang="en-US" sz="1100" dirty="0"/>
          </a:p>
        </p:txBody>
      </p:sp>
      <p:sp>
        <p:nvSpPr>
          <p:cNvPr id="10" name="원자료 캡처 자리"/>
          <p:cNvSpPr/>
          <p:nvPr/>
        </p:nvSpPr>
        <p:spPr>
          <a:xfrm>
            <a:off x="4846320" y="100584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11" name="원자료 캡처 자리 안내"/>
          <p:cNvSpPr txBox="1"/>
          <p:nvPr/>
        </p:nvSpPr>
        <p:spPr>
          <a:xfrm>
            <a:off x="5029200" y="1188720"/>
            <a:ext cx="3474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조사 누리집 화면 캡처 자리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(청소년건강행태조사 → 통계 → 아침식사 결식률)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실제 발표에서는 여기에 캡처 이미지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그래프와 해석</a:t>
            </a:r>
            <a:endParaRPr lang="en-US" sz="2400" dirty="0"/>
          </a:p>
        </p:txBody>
      </p:sp>
      <p:sp>
        <p:nvSpPr>
          <p:cNvPr id="3" name="번호 3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3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graphicFrame>
        <p:nvGraphicFramePr>
          <p:cNvPr id="5" name="주 5일 이상 아침식사 결식률 (단위: %)" descr=""/>
          <p:cNvGraphicFramePr/>
          <p:nvPr/>
        </p:nvGraphicFramePr>
        <p:xfrm>
          <a:off x="457200" y="1005840"/>
          <a:ext cx="457200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확률분포표 안내"/>
          <p:cNvSpPr txBox="1"/>
          <p:nvPr/>
        </p:nvSpPr>
        <p:spPr>
          <a:xfrm>
            <a:off x="457200" y="35204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확률분포표 (2025년 여학생 1명, X = 주 5일 이상 결식이면 1)</a:t>
            </a:r>
            <a:endParaRPr lang="en-US" sz="1100" dirty="0"/>
          </a:p>
        </p:txBody>
      </p:sp>
      <p:graphicFrame>
        <p:nvGraphicFramePr>
          <p:cNvPr id="4" name="확률분포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03904"/>
          <a:ext cx="45720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280160"/>
                <a:gridCol w="1554480"/>
                <a:gridCol w="9144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X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0 (거르지 않음)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1 (주 5일 이상 거름)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합계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P(X = x)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0.547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0.453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1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해석 카드 1"/>
          <p:cNvSpPr/>
          <p:nvPr/>
        </p:nvSpPr>
        <p:spPr>
          <a:xfrm>
            <a:off x="5303520" y="100584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해석 라벨 1"/>
          <p:cNvSpPr txBox="1"/>
          <p:nvPr/>
        </p:nvSpPr>
        <p:spPr>
          <a:xfrm>
            <a:off x="5486400" y="1097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① 숫자로 말하기</a:t>
            </a:r>
            <a:endParaRPr lang="en-US" sz="1100" dirty="0"/>
          </a:p>
        </p:txBody>
      </p:sp>
      <p:sp>
        <p:nvSpPr>
          <p:cNvPr id="10" name="해석 1"/>
          <p:cNvSpPr txBox="1"/>
          <p:nvPr/>
        </p:nvSpPr>
        <p:spPr>
          <a:xfrm>
            <a:off x="5486400" y="1371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여학생 39.1% → 45.3%(+6.2%p), 남학생 37.0% → 41.9%(+4.9%p), 2021→2025. 여학생이 매년 더 높다</a:t>
            </a:r>
            <a:endParaRPr lang="en-US" sz="1050" dirty="0"/>
          </a:p>
        </p:txBody>
      </p:sp>
      <p:sp>
        <p:nvSpPr>
          <p:cNvPr id="11" name="해석 카드 2"/>
          <p:cNvSpPr/>
          <p:nvPr/>
        </p:nvSpPr>
        <p:spPr>
          <a:xfrm>
            <a:off x="5303520" y="219456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해석 라벨 2"/>
          <p:cNvSpPr txBox="1"/>
          <p:nvPr/>
        </p:nvSpPr>
        <p:spPr>
          <a:xfrm>
            <a:off x="5486400" y="2286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② 왜 그렇게 되었을까, 내 의견</a:t>
            </a:r>
            <a:endParaRPr lang="en-US" sz="1100" dirty="0"/>
          </a:p>
        </p:txBody>
      </p:sp>
      <p:sp>
        <p:nvSpPr>
          <p:cNvPr id="13" name="해석 2"/>
          <p:cNvSpPr txBox="1"/>
          <p:nvPr/>
        </p:nvSpPr>
        <p:spPr>
          <a:xfrm>
            <a:off x="5486400" y="2560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잠이 부족해 아침에 먹기보다 자는 쪽을 택한다. 학원·스마트폰·이른 등교가 겹친다</a:t>
            </a:r>
            <a:endParaRPr lang="en-US" sz="1050" dirty="0"/>
          </a:p>
        </p:txBody>
      </p:sp>
      <p:sp>
        <p:nvSpPr>
          <p:cNvPr id="14" name="해석 카드 3"/>
          <p:cNvSpPr/>
          <p:nvPr/>
        </p:nvSpPr>
        <p:spPr>
          <a:xfrm>
            <a:off x="5303520" y="338328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해석 라벨 3"/>
          <p:cNvSpPr txBox="1"/>
          <p:nvPr/>
        </p:nvSpPr>
        <p:spPr>
          <a:xfrm>
            <a:off x="5486400" y="34747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③ 내 의견의 근거</a:t>
            </a:r>
            <a:endParaRPr lang="en-US" sz="1100" dirty="0"/>
          </a:p>
        </p:txBody>
      </p:sp>
      <p:sp>
        <p:nvSpPr>
          <p:cNvPr id="16" name="해석 3"/>
          <p:cNvSpPr txBox="1"/>
          <p:nvPr/>
        </p:nvSpPr>
        <p:spPr>
          <a:xfrm>
            <a:off x="5486400" y="3749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같은 조사(2024년): 잠을 충분히 잔다고 느끼는 비율 남 27.1%, 여 16.5%. 결식률 높은 여학생이 수면 충족률도 낮다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결론</a:t>
            </a:r>
            <a:endParaRPr lang="en-US" sz="2400" dirty="0"/>
          </a:p>
        </p:txBody>
      </p:sp>
      <p:sp>
        <p:nvSpPr>
          <p:cNvPr id="3" name="번호 4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4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" name="결론 카드 1"/>
          <p:cNvSpPr/>
          <p:nvPr/>
        </p:nvSpPr>
        <p:spPr>
          <a:xfrm>
            <a:off x="457200" y="100584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결론 라벨 1"/>
          <p:cNvSpPr txBox="1"/>
          <p:nvPr/>
        </p:nvSpPr>
        <p:spPr>
          <a:xfrm>
            <a:off x="685800" y="11155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통계가 보여 준 것</a:t>
            </a:r>
            <a:endParaRPr lang="en-US" sz="1100" dirty="0"/>
          </a:p>
        </p:txBody>
      </p:sp>
      <p:sp>
        <p:nvSpPr>
          <p:cNvPr id="7" name="결론 1"/>
          <p:cNvSpPr txBox="1"/>
          <p:nvPr/>
        </p:nvSpPr>
        <p:spPr>
          <a:xfrm>
            <a:off x="685800" y="1417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아침 결식은 10명 중 4명을 넘고 5년째 늘며 여학생이 더 높다.</a:t>
            </a:r>
            <a:endParaRPr lang="en-US" sz="1600" dirty="0"/>
          </a:p>
        </p:txBody>
      </p:sp>
      <p:sp>
        <p:nvSpPr>
          <p:cNvPr id="8" name="결론 카드 2"/>
          <p:cNvSpPr/>
          <p:nvPr/>
        </p:nvSpPr>
        <p:spPr>
          <a:xfrm>
            <a:off x="457200" y="219456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결론 라벨 2"/>
          <p:cNvSpPr txBox="1"/>
          <p:nvPr/>
        </p:nvSpPr>
        <p:spPr>
          <a:xfrm>
            <a:off x="685800" y="23042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그래서 나의 주장</a:t>
            </a:r>
            <a:endParaRPr lang="en-US" sz="1100" dirty="0"/>
          </a:p>
        </p:txBody>
      </p:sp>
      <p:sp>
        <p:nvSpPr>
          <p:cNvPr id="10" name="결론 2"/>
          <p:cNvSpPr txBox="1"/>
          <p:nvPr/>
        </p:nvSpPr>
        <p:spPr>
          <a:xfrm>
            <a:off x="685800" y="2606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집에서 먹으라는 교육보다 등교 후 학교에서 먹는 아침이 현실적이다.</a:t>
            </a:r>
            <a:endParaRPr lang="en-US" sz="1600" dirty="0"/>
          </a:p>
        </p:txBody>
      </p:sp>
      <p:sp>
        <p:nvSpPr>
          <p:cNvPr id="11" name="결론 카드 3"/>
          <p:cNvSpPr/>
          <p:nvPr/>
        </p:nvSpPr>
        <p:spPr>
          <a:xfrm>
            <a:off x="457200" y="338328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결론 라벨 3"/>
          <p:cNvSpPr txBox="1"/>
          <p:nvPr/>
        </p:nvSpPr>
        <p:spPr>
          <a:xfrm>
            <a:off x="685800" y="34930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남는 궁금증</a:t>
            </a:r>
            <a:endParaRPr lang="en-US" sz="1100" dirty="0"/>
          </a:p>
        </p:txBody>
      </p:sp>
      <p:sp>
        <p:nvSpPr>
          <p:cNvPr id="13" name="결론 3"/>
          <p:cNvSpPr txBox="1"/>
          <p:nvPr/>
        </p:nvSpPr>
        <p:spPr>
          <a:xfrm>
            <a:off x="685800" y="3794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결식과 빈혈·체중 자료를 더 찾아보고 싶다. 간호사가 되면 환자의 생활 습관을 이렇게 숫자로 묻겠다.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통계독서탐구">
  <a:themeElements>
    <a:clrScheme name="통계독서탐구">
      <a:dk1>
        <a:srgbClr val="1B211D"/>
      </a:dk1>
      <a:lt1>
        <a:srgbClr val="FFFFFF"/>
      </a:lt1>
      <a:dk2>
        <a:srgbClr val="2F5D50"/>
      </a:dk2>
      <a:lt2>
        <a:srgbClr val="EEF3EF"/>
      </a:lt2>
      <a:accent1>
        <a:srgbClr val="2F5D50"/>
      </a:accent1>
      <a:accent2>
        <a:srgbClr val="2A78D6"/>
      </a:accent2>
      <a:accent3>
        <a:srgbClr val="6B6759"/>
      </a:accent3>
      <a:accent4>
        <a:srgbClr val="B9B4A6"/>
      </a:accent4>
      <a:accent5>
        <a:srgbClr val="E1EBE5"/>
      </a:accent5>
      <a:accent6>
        <a:srgbClr val="F3F1EA"/>
      </a:accent6>
      <a:hlink>
        <a:srgbClr val="2A78D6"/>
      </a:hlink>
      <a:folHlink>
        <a:srgbClr val="6B6759"/>
      </a:folHlink>
    </a:clrScheme>
    <a:fontScheme name="통계독서탐구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통계독서탐구 발표 예시 (간호사 지망)</dc:title>
  <dc:subject>2학년 확률과 통계 수행평가 통계독서탐구</dc:subject>
  <dc:creator>PptxGenJS</dc:creator>
  <cp:lastModifiedBy>PptxGenJS</cp:lastModifiedBy>
  <cp:revision>1</cp:revision>
  <dcterms:created xsi:type="dcterms:W3CDTF">2026-10-19T06:55:04Z</dcterms:created>
  <dcterms:modified xsi:type="dcterms:W3CDTF">2026-10-19T06:55:04Z</dcterms:modified>
</cp:coreProperties>
</file>