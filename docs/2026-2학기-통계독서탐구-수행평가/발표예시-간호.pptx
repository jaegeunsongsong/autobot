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발표" id="{96f17dfe-71d5-520b-fb9b-4d9a72eae0e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211D"/>
                </a:solidFill>
                <a:latin typeface="+mn-lt"/>
              </a:defRPr>
            </a:pPr>
            <a:r>
              <a:rPr sz="1050" b="0" i="0" u="none" strike="noStrike">
                <a:solidFill>
                  <a:srgbClr val="1B211D"/>
                </a:solidFill>
                <a:latin typeface="+mn-lt"/>
              </a:rPr>
              <a:t>주 5일 이상 아침식사 결식률 (단위: 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여학생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1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39.1</c:v>
                </c:pt>
                <c:pt idx="1">
                  <c:v>40.7</c:v>
                </c:pt>
                <c:pt idx="2">
                  <c:v>42.6</c:v>
                </c:pt>
                <c:pt idx="3">
                  <c:v>44.7</c:v>
                </c:pt>
                <c:pt idx="4">
                  <c:v>45.3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남학생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1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37</c:v>
                </c:pt>
                <c:pt idx="1">
                  <c:v>37.4</c:v>
                </c:pt>
                <c:pt idx="2">
                  <c:v>39.7</c:v>
                </c:pt>
                <c:pt idx="3">
                  <c:v>40.2</c:v>
                </c:pt>
                <c:pt idx="4">
                  <c:v>41.9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B211D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제목</a:t>
            </a:r>
            <a:endParaRPr lang="en-US" sz="2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통계독서탐구 · 2학년 확률과 통계 수행평가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IN">
    <p:bg>
      <p:bgPr>
        <a:solidFill>
          <a:srgbClr val="EE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제목</a:t>
            </a:r>
            <a:endParaRPr lang="en-US" sz="2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통계독서탐구 · 2학년 확률과 통계 수행평가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나의 주장과 참고 도서</a:t>
            </a:r>
            <a:endParaRPr lang="en-US" sz="2400" dirty="0"/>
          </a:p>
        </p:txBody>
      </p:sp>
      <p:sp>
        <p:nvSpPr>
          <p:cNvPr id="3" name="번호 1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1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주장"/>
          <p:cNvSpPr txBox="1"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고등학생의 아침 결식은 해마다 늘고 있다.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등교 후 먹을 수 있는 아침을 학교가 마련해야 한다.</a:t>
            </a:r>
            <a:endParaRPr lang="en-US" sz="2400" dirty="0"/>
          </a:p>
        </p:txBody>
      </p:sp>
      <p:sp>
        <p:nvSpPr>
          <p:cNvPr id="6" name="발표자 카드"/>
          <p:cNvSpPr/>
          <p:nvPr/>
        </p:nvSpPr>
        <p:spPr>
          <a:xfrm>
            <a:off x="457200" y="274320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발표자 라벨"/>
          <p:cNvSpPr txBox="1"/>
          <p:nvPr/>
        </p:nvSpPr>
        <p:spPr>
          <a:xfrm>
            <a:off x="68580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발표자</a:t>
            </a:r>
            <a:endParaRPr lang="en-US" sz="1100" dirty="0"/>
          </a:p>
        </p:txBody>
      </p:sp>
      <p:sp>
        <p:nvSpPr>
          <p:cNvPr id="8" name="발표자"/>
          <p:cNvSpPr txBox="1"/>
          <p:nvPr/>
        </p:nvSpPr>
        <p:spPr>
          <a:xfrm>
            <a:off x="685800" y="32461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2학년 ○반 ○번 ○○○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진로: 간호사</a:t>
            </a:r>
            <a:endParaRPr lang="en-US" sz="1600" dirty="0"/>
          </a:p>
        </p:txBody>
      </p:sp>
      <p:sp>
        <p:nvSpPr>
          <p:cNvPr id="9" name="참고 도서 카드"/>
          <p:cNvSpPr/>
          <p:nvPr/>
        </p:nvSpPr>
        <p:spPr>
          <a:xfrm>
            <a:off x="4754880" y="274320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참고 도서 라벨"/>
          <p:cNvSpPr txBox="1"/>
          <p:nvPr/>
        </p:nvSpPr>
        <p:spPr>
          <a:xfrm>
            <a:off x="498348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참고 도서</a:t>
            </a:r>
            <a:endParaRPr lang="en-US" sz="1100" dirty="0"/>
          </a:p>
        </p:txBody>
      </p:sp>
      <p:sp>
        <p:nvSpPr>
          <p:cNvPr id="11" name="도서명"/>
          <p:cNvSpPr txBox="1"/>
          <p:nvPr/>
        </p:nvSpPr>
        <p:spPr>
          <a:xfrm>
            <a:off x="498348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《팩트풀니스》 한스 로슬링</a:t>
            </a:r>
            <a:endParaRPr lang="en-US" sz="1500" dirty="0"/>
          </a:p>
        </p:txBody>
      </p:sp>
      <p:sp>
        <p:nvSpPr>
          <p:cNvPr id="12" name="도서 연계"/>
          <p:cNvSpPr txBox="1"/>
          <p:nvPr/>
        </p:nvSpPr>
        <p:spPr>
          <a:xfrm>
            <a:off x="4983480" y="3703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의사인 저자는 느낌 대신 숫자로 보라고 한다. '요즘 애들은 아침을 안 먹는다'는 말을 숫자로 확인했다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1장 설명 · 핵심 요약</a:t>
            </a:r>
            <a:endParaRPr lang="en-US" sz="2400" dirty="0"/>
          </a:p>
        </p:txBody>
      </p:sp>
      <p:sp>
        <p:nvSpPr>
          <p:cNvPr id="3" name="설명 배지 1"/>
          <p:cNvSpPr/>
          <p:nvPr/>
        </p:nvSpPr>
        <p:spPr>
          <a:xfrm>
            <a:off x="457200" y="384048"/>
            <a:ext cx="420624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설명 배지 글자 1"/>
          <p:cNvSpPr txBox="1"/>
          <p:nvPr/>
        </p:nvSpPr>
        <p:spPr>
          <a:xfrm>
            <a:off x="457200" y="3840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설명</a:t>
            </a:r>
            <a:endParaRPr lang="en-US" sz="1000" dirty="0"/>
          </a:p>
        </p:txBody>
      </p:sp>
      <p:sp>
        <p:nvSpPr>
          <p:cNvPr id="5" name="설명 카드 1-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6" name="설명 제목 1-1"/>
          <p:cNvSpPr txBox="1"/>
          <p:nvPr/>
        </p:nvSpPr>
        <p:spPr>
          <a:xfrm>
            <a:off x="62179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이 장이 보여 주는 것</a:t>
            </a:r>
            <a:endParaRPr lang="en-US" sz="1150" dirty="0"/>
          </a:p>
        </p:txBody>
      </p:sp>
      <p:sp>
        <p:nvSpPr>
          <p:cNvPr id="7" name="설명 내용 1-1"/>
          <p:cNvSpPr txBox="1"/>
          <p:nvPr/>
        </p:nvSpPr>
        <p:spPr>
          <a:xfrm>
            <a:off x="62179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주장 한 문장과 참고 도서 한 권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주장은 통계로 확인할 수 있는 문장이어야 한다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진로(간호사)와 자료(청소년 건강)를 한 줄로 잇는다</a:t>
            </a:r>
            <a:endParaRPr lang="en-US" sz="1050" dirty="0"/>
          </a:p>
        </p:txBody>
      </p:sp>
      <p:sp>
        <p:nvSpPr>
          <p:cNvPr id="8" name="설명 카드 1-2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9" name="설명 제목 1-2"/>
          <p:cNvSpPr txBox="1"/>
          <p:nvPr/>
        </p:nvSpPr>
        <p:spPr>
          <a:xfrm>
            <a:off x="482803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책과의 연결</a:t>
            </a:r>
            <a:endParaRPr lang="en-US" sz="1150" dirty="0"/>
          </a:p>
        </p:txBody>
      </p:sp>
      <p:sp>
        <p:nvSpPr>
          <p:cNvPr id="10" name="설명 내용 1-2"/>
          <p:cNvSpPr txBox="1"/>
          <p:nvPr/>
        </p:nvSpPr>
        <p:spPr>
          <a:xfrm>
            <a:off x="482803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로슬링은 의사·통계학자. '느낌 대신 숫자'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어른들의 느낌을 숫자로 검증하는 것이 탐구의 출발점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책의 '표본을 전체로 말할 때 조심'은 2장의 표본조사와 이어진다</a:t>
            </a:r>
            <a:endParaRPr lang="en-US" sz="1050" dirty="0"/>
          </a:p>
        </p:txBody>
      </p:sp>
      <p:sp>
        <p:nvSpPr>
          <p:cNvPr id="11" name="설명 카드 1-3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2" name="설명 제목 1-3"/>
          <p:cNvSpPr txBox="1"/>
          <p:nvPr/>
        </p:nvSpPr>
        <p:spPr>
          <a:xfrm>
            <a:off x="62179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실제로 읽을 분량</a:t>
            </a:r>
            <a:endParaRPr lang="en-US" sz="1150" dirty="0"/>
          </a:p>
        </p:txBody>
      </p:sp>
      <p:sp>
        <p:nvSpPr>
          <p:cNvPr id="13" name="설명 내용 1-3"/>
          <p:cNvSpPr txBox="1"/>
          <p:nvPr/>
        </p:nvSpPr>
        <p:spPr>
          <a:xfrm>
            <a:off x="62179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1장과 '부정 본능' 부분만 읽어도 된다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학교 도서관에 있는 책. 통계·데이터를 다룬 다른 책도 가능</a:t>
            </a:r>
            <a:endParaRPr lang="en-US" sz="1050" dirty="0"/>
          </a:p>
        </p:txBody>
      </p:sp>
      <p:sp>
        <p:nvSpPr>
          <p:cNvPr id="14" name="설명 카드 1-4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5" name="설명 제목 1-4"/>
          <p:cNvSpPr txBox="1"/>
          <p:nvPr/>
        </p:nvSpPr>
        <p:spPr>
          <a:xfrm>
            <a:off x="482803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채점 연결</a:t>
            </a:r>
            <a:endParaRPr lang="en-US" sz="1150" dirty="0"/>
          </a:p>
        </p:txBody>
      </p:sp>
      <p:sp>
        <p:nvSpPr>
          <p:cNvPr id="16" name="설명 내용 1-4"/>
          <p:cNvSpPr txBox="1"/>
          <p:nvPr/>
        </p:nvSpPr>
        <p:spPr>
          <a:xfrm>
            <a:off x="482803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1번 도서 20점: 도서명·저자 + 책의 어떤 내용이 내 자료의 어디와 이어지는지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책 소개만 쓰면 15점, 도서명·저자만 있으면 5점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자료 출처와 내가 만든 표</a:t>
            </a:r>
            <a:endParaRPr lang="en-US" sz="2400" dirty="0"/>
          </a:p>
        </p:txBody>
      </p:sp>
      <p:sp>
        <p:nvSpPr>
          <p:cNvPr id="3" name="번호 2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2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5" name="출처 카드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출처"/>
          <p:cNvSpPr txBox="1"/>
          <p:nvPr/>
        </p:nvSpPr>
        <p:spPr>
          <a:xfrm>
            <a:off x="640080" y="102412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기관: 질병관리청  ·  조사 이름: 「청소년건강행태조사」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대상: 전국 중1~고3(대개 만 12~18세), 800개교 약 6만 명 표본, 매년 익명 온라인 조사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조사 방식: 일부만 뽑아 조사(표본조사). 표본의 비율로 전국 청소년을 미루어 본다</a:t>
            </a:r>
            <a:endParaRPr lang="en-US" sz="1100" dirty="0"/>
          </a:p>
        </p:txBody>
      </p:sp>
      <p:sp>
        <p:nvSpPr>
          <p:cNvPr id="7" name="원자료 라벨"/>
          <p:cNvSpPr txBox="1"/>
          <p:nvPr/>
        </p:nvSpPr>
        <p:spPr>
          <a:xfrm>
            <a:off x="457200" y="1901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원자료 표 (일부 발췌, 단위: %)</a:t>
            </a:r>
            <a:endParaRPr lang="en-US" sz="1050" dirty="0"/>
          </a:p>
        </p:txBody>
      </p:sp>
      <p:graphicFrame>
        <p:nvGraphicFramePr>
          <p:cNvPr id="4" name="원자료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76272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58368"/>
                <a:gridCol w="658368"/>
                <a:gridCol w="658368"/>
                <a:gridCol w="658368"/>
                <a:gridCol w="658368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구분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2021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2022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2023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2024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전체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42.4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남학생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37.0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37.4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39.7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40.2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41.9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여학생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39.1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40.7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42.6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44.7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45.3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중학교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고등학교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원자료 안내"/>
          <p:cNvSpPr txBox="1"/>
          <p:nvPr/>
        </p:nvSpPr>
        <p:spPr>
          <a:xfrm>
            <a:off x="457200" y="36484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'아침식사 결식률(주 5일 이상)' 표. 2005년부터 연도별로 전체·성별·학교급·학년·시도 행이 있다(학년·시도 행 생략). …은 옮기지 않은 칸</a:t>
            </a:r>
            <a:endParaRPr lang="en-US" sz="900" dirty="0"/>
          </a:p>
        </p:txBody>
      </p:sp>
      <p:sp>
        <p:nvSpPr>
          <p:cNvPr id="10" name="화살표"/>
          <p:cNvSpPr txBox="1"/>
          <p:nvPr/>
        </p:nvSpPr>
        <p:spPr>
          <a:xfrm>
            <a:off x="45720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가공표 라벨"/>
          <p:cNvSpPr txBox="1"/>
          <p:nvPr/>
        </p:nvSpPr>
        <p:spPr>
          <a:xfrm>
            <a:off x="502920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내가 다시 만든 표 (단위: %)</a:t>
            </a:r>
            <a:endParaRPr lang="en-US" sz="1050" dirty="0"/>
          </a:p>
        </p:txBody>
      </p:sp>
      <p:graphicFrame>
        <p:nvGraphicFramePr>
          <p:cNvPr id="7" name="내가 만든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176272"/>
          <a:ext cx="3657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66928"/>
                <a:gridCol w="566928"/>
                <a:gridCol w="566928"/>
                <a:gridCol w="566928"/>
                <a:gridCol w="566928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구분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2021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2022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2023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2024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남학생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37.0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37.4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39.7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40.2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41.9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여학생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39.1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40.7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42.6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44.7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45.3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가공 안내"/>
          <p:cNvSpPr txBox="1"/>
          <p:nvPr/>
        </p:nvSpPr>
        <p:spPr>
          <a:xfrm>
            <a:off x="5029200" y="3044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남·여 두 줄, 최근 5년만 골라 옮겼다. 제목과 단위(%)를 붙였다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2장 설명 · 핵심 요약</a:t>
            </a:r>
            <a:endParaRPr lang="en-US" sz="2400" dirty="0"/>
          </a:p>
        </p:txBody>
      </p:sp>
      <p:sp>
        <p:nvSpPr>
          <p:cNvPr id="3" name="설명 배지 2"/>
          <p:cNvSpPr/>
          <p:nvPr/>
        </p:nvSpPr>
        <p:spPr>
          <a:xfrm>
            <a:off x="457200" y="384048"/>
            <a:ext cx="420624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설명 배지 글자 2"/>
          <p:cNvSpPr txBox="1"/>
          <p:nvPr/>
        </p:nvSpPr>
        <p:spPr>
          <a:xfrm>
            <a:off x="457200" y="3840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설명</a:t>
            </a:r>
            <a:endParaRPr lang="en-US" sz="1000" dirty="0"/>
          </a:p>
        </p:txBody>
      </p:sp>
      <p:sp>
        <p:nvSpPr>
          <p:cNvPr id="5" name="설명 카드 2-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6" name="설명 제목 2-1"/>
          <p:cNvSpPr txBox="1"/>
          <p:nvPr/>
        </p:nvSpPr>
        <p:spPr>
          <a:xfrm>
            <a:off x="62179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실재하는 자료다</a:t>
            </a:r>
            <a:endParaRPr lang="en-US" sz="1150" dirty="0"/>
          </a:p>
        </p:txBody>
      </p:sp>
      <p:sp>
        <p:nvSpPr>
          <p:cNvPr id="7" name="설명 내용 2-1"/>
          <p:cNvSpPr txBox="1"/>
          <p:nvPr/>
        </p:nvSpPr>
        <p:spPr>
          <a:xfrm>
            <a:off x="62179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질병관리청이 2005년부터 매년 하는 국가승인통계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대상 중1~고3(만 12~18세), 전국 800개교 약 6만 명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익명 온라인 조사이므로 표본조사다</a:t>
            </a:r>
            <a:endParaRPr lang="en-US" sz="1050" dirty="0"/>
          </a:p>
        </p:txBody>
      </p:sp>
      <p:sp>
        <p:nvSpPr>
          <p:cNvPr id="8" name="설명 카드 2-2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9" name="설명 제목 2-2"/>
          <p:cNvSpPr txBox="1"/>
          <p:nvPr/>
        </p:nvSpPr>
        <p:spPr>
          <a:xfrm>
            <a:off x="482803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얻는 길</a:t>
            </a:r>
            <a:endParaRPr lang="en-US" sz="1150" dirty="0"/>
          </a:p>
        </p:txBody>
      </p:sp>
      <p:sp>
        <p:nvSpPr>
          <p:cNvPr id="10" name="설명 내용 2-2"/>
          <p:cNvSpPr txBox="1"/>
          <p:nvPr/>
        </p:nvSpPr>
        <p:spPr>
          <a:xfrm>
            <a:off x="482803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KOSIS(kosis.kr) → 국내통계 → 보건 → 청소년건강행태조사 → 아침식사 결식률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또는 조사 누리집 yhs.kdca.go.kr → 통계 → 지표별 통계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표를 엑셀로 내려받을 수 있다</a:t>
            </a:r>
            <a:endParaRPr lang="en-US" sz="1050" dirty="0"/>
          </a:p>
        </p:txBody>
      </p:sp>
      <p:sp>
        <p:nvSpPr>
          <p:cNvPr id="11" name="설명 카드 2-3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2" name="설명 제목 2-3"/>
          <p:cNvSpPr txBox="1"/>
          <p:nvPr/>
        </p:nvSpPr>
        <p:spPr>
          <a:xfrm>
            <a:off x="62179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원자료 → 가공</a:t>
            </a:r>
            <a:endParaRPr lang="en-US" sz="1150" dirty="0"/>
          </a:p>
        </p:txBody>
      </p:sp>
      <p:sp>
        <p:nvSpPr>
          <p:cNvPr id="13" name="설명 내용 2-3"/>
          <p:cNvSpPr txBox="1"/>
          <p:nvPr/>
        </p:nvSpPr>
        <p:spPr>
          <a:xfrm>
            <a:off x="62179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원자료: 연도(2005~) × 구분(전체·남·여·학교급·학년·시도)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남·여 두 줄, 최근 5년만 골라 옮김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뜻: 최근 7일 중 아침을 5일 이상 안 먹은 학생의 비율</a:t>
            </a:r>
            <a:endParaRPr lang="en-US" sz="1050" dirty="0"/>
          </a:p>
        </p:txBody>
      </p:sp>
      <p:sp>
        <p:nvSpPr>
          <p:cNvPr id="14" name="설명 카드 2-4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5" name="설명 제목 2-4"/>
          <p:cNvSpPr txBox="1"/>
          <p:nvPr/>
        </p:nvSpPr>
        <p:spPr>
          <a:xfrm>
            <a:off x="482803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채점 연결</a:t>
            </a:r>
            <a:endParaRPr lang="en-US" sz="1150" dirty="0"/>
          </a:p>
        </p:txBody>
      </p:sp>
      <p:sp>
        <p:nvSpPr>
          <p:cNvPr id="16" name="설명 내용 2-4"/>
          <p:cNvSpPr txBox="1"/>
          <p:nvPr/>
        </p:nvSpPr>
        <p:spPr>
          <a:xfrm>
            <a:off x="482803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2-① 기관과 조사 이름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2-② 표본조사의 근거: '800개교 약 6만 명을 뽑아'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2-③ 필요한 행·열만 고른 표(원자료를 통째로 옮기면 미충족)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그래프와 해석</a:t>
            </a:r>
            <a:endParaRPr lang="en-US" sz="2400" dirty="0"/>
          </a:p>
        </p:txBody>
      </p:sp>
      <p:sp>
        <p:nvSpPr>
          <p:cNvPr id="3" name="번호 3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3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graphicFrame>
        <p:nvGraphicFramePr>
          <p:cNvPr id="5" name="주 5일 이상 아침식사 결식률 (단위: %)" descr=""/>
          <p:cNvGraphicFramePr/>
          <p:nvPr/>
        </p:nvGraphicFramePr>
        <p:xfrm>
          <a:off x="457200" y="960120"/>
          <a:ext cx="40233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확률분포표 안내"/>
          <p:cNvSpPr txBox="1"/>
          <p:nvPr/>
        </p:nvSpPr>
        <p:spPr>
          <a:xfrm>
            <a:off x="466344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확률분포표 · 2025년 여학생 4명 모둠에서 주 5일 이상 아침을 거르는 학생 수 X (한 명이 거를 확률 p = 0.453, 이항분포)</a:t>
            </a:r>
            <a:endParaRPr lang="en-US" sz="950" dirty="0"/>
          </a:p>
        </p:txBody>
      </p:sp>
      <p:graphicFrame>
        <p:nvGraphicFramePr>
          <p:cNvPr id="6" name="확률분포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4023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12064"/>
                <a:gridCol w="512064"/>
                <a:gridCol w="512064"/>
                <a:gridCol w="512064"/>
                <a:gridCol w="512064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X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합계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P(X = x)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0.090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0.297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0.368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0.203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0.042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확률분포표 기댓값"/>
          <p:cNvSpPr txBox="1"/>
          <p:nvPr/>
        </p:nvSpPr>
        <p:spPr>
          <a:xfrm>
            <a:off x="4663440" y="2084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기댓값 4 × 0.453 ≈ 1.8명. 4명이 밥을 먹으면 평균 두 명 가까이는 아침을 거른 채다</a:t>
            </a:r>
            <a:endParaRPr lang="en-US" sz="950" dirty="0"/>
          </a:p>
        </p:txBody>
      </p:sp>
      <p:sp>
        <p:nvSpPr>
          <p:cNvPr id="9" name="해석 카드 1"/>
          <p:cNvSpPr/>
          <p:nvPr/>
        </p:nvSpPr>
        <p:spPr>
          <a:xfrm>
            <a:off x="45720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해석 라벨 1"/>
          <p:cNvSpPr txBox="1"/>
          <p:nvPr/>
        </p:nvSpPr>
        <p:spPr>
          <a:xfrm>
            <a:off x="603504" y="3172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① 숫자로 말하기</a:t>
            </a:r>
            <a:endParaRPr lang="en-US" sz="1000" dirty="0"/>
          </a:p>
        </p:txBody>
      </p:sp>
      <p:sp>
        <p:nvSpPr>
          <p:cNvPr id="11" name="해석 1"/>
          <p:cNvSpPr txBox="1"/>
          <p:nvPr/>
        </p:nvSpPr>
        <p:spPr>
          <a:xfrm>
            <a:off x="603504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여학생 39.1% → 45.3%(+6.2%p), 남학생 37.0% → 41.9%(+4.9%p), 2021→2025. 둘 다 해마다 늘었고 여학생이 매년 높다</a:t>
            </a:r>
            <a:endParaRPr lang="en-US" sz="950" dirty="0"/>
          </a:p>
        </p:txBody>
      </p:sp>
      <p:sp>
        <p:nvSpPr>
          <p:cNvPr id="12" name="해석 카드 2"/>
          <p:cNvSpPr/>
          <p:nvPr/>
        </p:nvSpPr>
        <p:spPr>
          <a:xfrm>
            <a:off x="324612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해석 라벨 2"/>
          <p:cNvSpPr txBox="1"/>
          <p:nvPr/>
        </p:nvSpPr>
        <p:spPr>
          <a:xfrm>
            <a:off x="3392424" y="3172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② 왜 그렇게 되었을까, 내 의견</a:t>
            </a:r>
            <a:endParaRPr lang="en-US" sz="1000" dirty="0"/>
          </a:p>
        </p:txBody>
      </p:sp>
      <p:sp>
        <p:nvSpPr>
          <p:cNvPr id="14" name="해석 2"/>
          <p:cNvSpPr txBox="1"/>
          <p:nvPr/>
        </p:nvSpPr>
        <p:spPr>
          <a:xfrm>
            <a:off x="3392424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잠이 부족해 아침에 먹기보다 자는 쪽을 택한다. 늦은 취침(학원·스마트폰)과 이른 등교가 겹친다</a:t>
            </a:r>
            <a:endParaRPr lang="en-US" sz="950" dirty="0"/>
          </a:p>
        </p:txBody>
      </p:sp>
      <p:sp>
        <p:nvSpPr>
          <p:cNvPr id="15" name="해석 카드 3"/>
          <p:cNvSpPr/>
          <p:nvPr/>
        </p:nvSpPr>
        <p:spPr>
          <a:xfrm>
            <a:off x="603504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해석 라벨 3"/>
          <p:cNvSpPr txBox="1"/>
          <p:nvPr/>
        </p:nvSpPr>
        <p:spPr>
          <a:xfrm>
            <a:off x="6181344" y="3172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③ 내 의견의 근거</a:t>
            </a:r>
            <a:endParaRPr lang="en-US" sz="1000" dirty="0"/>
          </a:p>
        </p:txBody>
      </p:sp>
      <p:sp>
        <p:nvSpPr>
          <p:cNvPr id="17" name="해석 3"/>
          <p:cNvSpPr txBox="1"/>
          <p:nvPr/>
        </p:nvSpPr>
        <p:spPr>
          <a:xfrm>
            <a:off x="6181344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같은 조사의 '주관적 수면충족률'(2024): 남 27.1%, 여 16.5%. 결식률이 높은 여학생이 수면충족률도 낮다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3장 설명 · 핵심 요약</a:t>
            </a:r>
            <a:endParaRPr lang="en-US" sz="2400" dirty="0"/>
          </a:p>
        </p:txBody>
      </p:sp>
      <p:sp>
        <p:nvSpPr>
          <p:cNvPr id="3" name="설명 배지 3"/>
          <p:cNvSpPr/>
          <p:nvPr/>
        </p:nvSpPr>
        <p:spPr>
          <a:xfrm>
            <a:off x="457200" y="384048"/>
            <a:ext cx="420624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설명 배지 글자 3"/>
          <p:cNvSpPr txBox="1"/>
          <p:nvPr/>
        </p:nvSpPr>
        <p:spPr>
          <a:xfrm>
            <a:off x="457200" y="3840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설명</a:t>
            </a:r>
            <a:endParaRPr lang="en-US" sz="1000" dirty="0"/>
          </a:p>
        </p:txBody>
      </p:sp>
      <p:sp>
        <p:nvSpPr>
          <p:cNvPr id="5" name="설명 카드 3-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6" name="설명 제목 3-1"/>
          <p:cNvSpPr txBox="1"/>
          <p:nvPr/>
        </p:nvSpPr>
        <p:spPr>
          <a:xfrm>
            <a:off x="62179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그래프</a:t>
            </a:r>
            <a:endParaRPr lang="en-US" sz="1150" dirty="0"/>
          </a:p>
        </p:txBody>
      </p:sp>
      <p:sp>
        <p:nvSpPr>
          <p:cNvPr id="7" name="설명 내용 3-1"/>
          <p:cNvSpPr txBox="1"/>
          <p:nvPr/>
        </p:nvSpPr>
        <p:spPr>
          <a:xfrm>
            <a:off x="62179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계열이 둘이라 색과 범례로 구분, 세로축 0~50%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꺾은선은 '해마다 어떻게 변했나'를 보여 준다</a:t>
            </a:r>
            <a:endParaRPr lang="en-US" sz="1050" dirty="0"/>
          </a:p>
        </p:txBody>
      </p:sp>
      <p:sp>
        <p:nvSpPr>
          <p:cNvPr id="8" name="설명 카드 3-2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9" name="설명 제목 3-2"/>
          <p:cNvSpPr txBox="1"/>
          <p:nvPr/>
        </p:nvSpPr>
        <p:spPr>
          <a:xfrm>
            <a:off x="482803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확률분포표를 이렇게 만든 이유</a:t>
            </a:r>
            <a:endParaRPr lang="en-US" sz="1150" dirty="0"/>
          </a:p>
        </p:txBody>
      </p:sp>
      <p:sp>
        <p:nvSpPr>
          <p:cNvPr id="10" name="설명 내용 3-2"/>
          <p:cNvSpPr txBox="1"/>
          <p:nvPr/>
        </p:nvSpPr>
        <p:spPr>
          <a:xfrm>
            <a:off x="482803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공개 자료는 '5일 이상 결식 비율'뿐이고 0~7일 분포는 원시자료(신청 필요)에만 있다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주 4일 이하 / 5일 이상 두 칸뿐이면 표가 싱거우므로, 이항분포 B(4, 0.453)로 4명 모둠의 결식 학생 수 분포를 만들었다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기댓값 1.8명 (교과: 이항분포·기댓값)</a:t>
            </a:r>
            <a:endParaRPr lang="en-US" sz="1050" dirty="0"/>
          </a:p>
        </p:txBody>
      </p:sp>
      <p:sp>
        <p:nvSpPr>
          <p:cNvPr id="11" name="설명 카드 3-3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2" name="설명 제목 3-3"/>
          <p:cNvSpPr txBox="1"/>
          <p:nvPr/>
        </p:nvSpPr>
        <p:spPr>
          <a:xfrm>
            <a:off x="62179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근거 자료는 어디서</a:t>
            </a:r>
            <a:endParaRPr lang="en-US" sz="1150" dirty="0"/>
          </a:p>
        </p:txBody>
      </p:sp>
      <p:sp>
        <p:nvSpPr>
          <p:cNvPr id="13" name="설명 내용 3-3"/>
          <p:cNvSpPr txBox="1"/>
          <p:nvPr/>
        </p:nvSpPr>
        <p:spPr>
          <a:xfrm>
            <a:off x="62179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같은 지표 목록의 '주관적 수면충족률'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뜻: 최근 7일 수면이 피로 회복에 충분하다고 답한 비율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2024년 결과 보도자료(질병관리청)에도 나온다</a:t>
            </a:r>
            <a:endParaRPr lang="en-US" sz="1050" dirty="0"/>
          </a:p>
        </p:txBody>
      </p:sp>
      <p:sp>
        <p:nvSpPr>
          <p:cNvPr id="14" name="설명 카드 3-4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5" name="설명 제목 3-4"/>
          <p:cNvSpPr txBox="1"/>
          <p:nvPr/>
        </p:nvSpPr>
        <p:spPr>
          <a:xfrm>
            <a:off x="482803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채점 연결</a:t>
            </a:r>
            <a:endParaRPr lang="en-US" sz="1150" dirty="0"/>
          </a:p>
        </p:txBody>
      </p:sp>
      <p:sp>
        <p:nvSpPr>
          <p:cNvPr id="16" name="설명 내용 3-4"/>
          <p:cNvSpPr txBox="1"/>
          <p:nvPr/>
        </p:nvSpPr>
        <p:spPr>
          <a:xfrm>
            <a:off x="482803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2-④ 그래프 또는 확률분포표(둘 다 있음)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3-① 두 시점·차이(%p)  3-② 의견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3-③ 같은 조사의 다른 지표를 출처와 함께 근거로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결론</a:t>
            </a:r>
            <a:endParaRPr lang="en-US" sz="2400" dirty="0"/>
          </a:p>
        </p:txBody>
      </p:sp>
      <p:sp>
        <p:nvSpPr>
          <p:cNvPr id="3" name="번호 4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4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5" name="결론 카드 1"/>
          <p:cNvSpPr/>
          <p:nvPr/>
        </p:nvSpPr>
        <p:spPr>
          <a:xfrm>
            <a:off x="457200" y="96012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결론 라벨 1"/>
          <p:cNvSpPr txBox="1"/>
          <p:nvPr/>
        </p:nvSpPr>
        <p:spPr>
          <a:xfrm>
            <a:off x="6858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통계가 보여 준 것</a:t>
            </a:r>
            <a:endParaRPr lang="en-US" sz="1100" dirty="0"/>
          </a:p>
        </p:txBody>
      </p:sp>
      <p:sp>
        <p:nvSpPr>
          <p:cNvPr id="7" name="결론 1"/>
          <p:cNvSpPr txBox="1"/>
          <p:nvPr/>
        </p:nvSpPr>
        <p:spPr>
          <a:xfrm>
            <a:off x="685800" y="13441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아침 결식은 10명 중 4명을 넘고(2025년 여학생 45.3%, 남학생 41.9%) 5년째 늘었으며, 잠이 부족한 집단일수록 높다.</a:t>
            </a:r>
            <a:endParaRPr lang="en-US" sz="1300" dirty="0"/>
          </a:p>
        </p:txBody>
      </p:sp>
      <p:sp>
        <p:nvSpPr>
          <p:cNvPr id="8" name="결론 카드 2"/>
          <p:cNvSpPr/>
          <p:nvPr/>
        </p:nvSpPr>
        <p:spPr>
          <a:xfrm>
            <a:off x="457200" y="219456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결론 라벨 2"/>
          <p:cNvSpPr txBox="1"/>
          <p:nvPr/>
        </p:nvSpPr>
        <p:spPr>
          <a:xfrm>
            <a:off x="68580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그래서 나의 주장</a:t>
            </a:r>
            <a:endParaRPr lang="en-US" sz="1100" dirty="0"/>
          </a:p>
        </p:txBody>
      </p:sp>
      <p:sp>
        <p:nvSpPr>
          <p:cNvPr id="10" name="결론 2"/>
          <p:cNvSpPr txBox="1"/>
          <p:nvPr/>
        </p:nvSpPr>
        <p:spPr>
          <a:xfrm>
            <a:off x="685800" y="25786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'집에서 먹고 오라'는 교육은 잠을 더 줄이라는 말이다. 등교 후 10분 안에 먹을 수 있는 아침(간편식)을 학교가 마련해야 한다.</a:t>
            </a:r>
            <a:endParaRPr lang="en-US" sz="1300" dirty="0"/>
          </a:p>
        </p:txBody>
      </p:sp>
      <p:sp>
        <p:nvSpPr>
          <p:cNvPr id="11" name="결론 카드 3"/>
          <p:cNvSpPr/>
          <p:nvPr/>
        </p:nvSpPr>
        <p:spPr>
          <a:xfrm>
            <a:off x="457200" y="342900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결론 라벨 3"/>
          <p:cNvSpPr txBox="1"/>
          <p:nvPr/>
        </p:nvSpPr>
        <p:spPr>
          <a:xfrm>
            <a:off x="68580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제안</a:t>
            </a:r>
            <a:endParaRPr lang="en-US" sz="1100" dirty="0"/>
          </a:p>
        </p:txBody>
      </p:sp>
      <p:sp>
        <p:nvSpPr>
          <p:cNvPr id="13" name="결론 3"/>
          <p:cNvSpPr txBox="1"/>
          <p:nvPr/>
        </p:nvSpPr>
        <p:spPr>
          <a:xfrm>
            <a:off x="685800" y="381304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아침은 학업과도 이어진다. 농촌진흥청 설문(2002년, 대학 1·2학년 3,612명)에서 고교 때 아침을 매일 먹은 응답자의 수능 평균은 294점, 주 2일 이하는 275점이었다(400점 만점). 2학년이 240명이면 45%인 약 108명이 대상이다. 한 학기 시범 운영 뒤 결식률과 지각·조퇴를 비교해 효과를 숫자로 확인하자.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4장 설명 · 핵심 요약</a:t>
            </a:r>
            <a:endParaRPr lang="en-US" sz="2400" dirty="0"/>
          </a:p>
        </p:txBody>
      </p:sp>
      <p:sp>
        <p:nvSpPr>
          <p:cNvPr id="3" name="설명 배지 4"/>
          <p:cNvSpPr/>
          <p:nvPr/>
        </p:nvSpPr>
        <p:spPr>
          <a:xfrm>
            <a:off x="457200" y="384048"/>
            <a:ext cx="420624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설명 배지 글자 4"/>
          <p:cNvSpPr txBox="1"/>
          <p:nvPr/>
        </p:nvSpPr>
        <p:spPr>
          <a:xfrm>
            <a:off x="457200" y="3840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설명</a:t>
            </a:r>
            <a:endParaRPr lang="en-US" sz="1000" dirty="0"/>
          </a:p>
        </p:txBody>
      </p:sp>
      <p:sp>
        <p:nvSpPr>
          <p:cNvPr id="5" name="설명 카드 4-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6" name="설명 제목 4-1"/>
          <p:cNvSpPr txBox="1"/>
          <p:nvPr/>
        </p:nvSpPr>
        <p:spPr>
          <a:xfrm>
            <a:off x="62179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결론의 구조</a:t>
            </a:r>
            <a:endParaRPr lang="en-US" sz="1150" dirty="0"/>
          </a:p>
        </p:txBody>
      </p:sp>
      <p:sp>
        <p:nvSpPr>
          <p:cNvPr id="7" name="설명 내용 4-1"/>
          <p:cNvSpPr txBox="1"/>
          <p:nvPr/>
        </p:nvSpPr>
        <p:spPr>
          <a:xfrm>
            <a:off x="62179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보여 준 것(숫자) → 주장 → 제안, 세 문장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제안에는 학교 규모로 환산한 숫자를 넣는다(240명 → 약 108명)</a:t>
            </a:r>
            <a:endParaRPr lang="en-US" sz="1050" dirty="0"/>
          </a:p>
        </p:txBody>
      </p:sp>
      <p:sp>
        <p:nvSpPr>
          <p:cNvPr id="8" name="설명 카드 4-2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9" name="설명 제목 4-2"/>
          <p:cNvSpPr txBox="1"/>
          <p:nvPr/>
        </p:nvSpPr>
        <p:spPr>
          <a:xfrm>
            <a:off x="482803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효과 통계의 출처와 한계</a:t>
            </a:r>
            <a:endParaRPr lang="en-US" sz="1150" dirty="0"/>
          </a:p>
        </p:txBody>
      </p:sp>
      <p:sp>
        <p:nvSpPr>
          <p:cNvPr id="10" name="설명 내용 4-2"/>
          <p:cNvSpPr txBox="1"/>
          <p:nvPr/>
        </p:nvSpPr>
        <p:spPr>
          <a:xfrm>
            <a:off x="482803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농촌진흥청·다음 설문(2002. 7. 발표): 대학 1·2학년 3,612명에게 고교 때 아침 식사 습관과 수능 점수를 물음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매일 먹음 294점 vs 주 2일 이하 275점(400점 만점), 내신 평균 3.7 vs 4.4등급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오래된 자기보고 조사라 상관관계다. 2017년 청소년건강행태조사를 분석한 논문(한국가정의학회지, 2019)도 같은 방향</a:t>
            </a:r>
            <a:endParaRPr lang="en-US" sz="1050" dirty="0"/>
          </a:p>
        </p:txBody>
      </p:sp>
      <p:sp>
        <p:nvSpPr>
          <p:cNvPr id="11" name="설명 카드 4-3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2" name="설명 제목 4-3"/>
          <p:cNvSpPr txBox="1"/>
          <p:nvPr/>
        </p:nvSpPr>
        <p:spPr>
          <a:xfrm>
            <a:off x="62179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궁금증 대신 실행</a:t>
            </a:r>
            <a:endParaRPr lang="en-US" sz="1150" dirty="0"/>
          </a:p>
        </p:txBody>
      </p:sp>
      <p:sp>
        <p:nvSpPr>
          <p:cNvPr id="13" name="설명 내용 4-3"/>
          <p:cNvSpPr txBox="1"/>
          <p:nvPr/>
        </p:nvSpPr>
        <p:spPr>
          <a:xfrm>
            <a:off x="62179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'더 찾아보고 싶다'로 끝내지 않는다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할 일을 적는다: 한 학기 시범 운영, 전후 비교(결식률·지각·조퇴·수면 시간)</a:t>
            </a:r>
            <a:endParaRPr lang="en-US" sz="1050" dirty="0"/>
          </a:p>
        </p:txBody>
      </p:sp>
      <p:sp>
        <p:nvSpPr>
          <p:cNvPr id="14" name="설명 카드 4-4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5" name="설명 제목 4-4"/>
          <p:cNvSpPr txBox="1"/>
          <p:nvPr/>
        </p:nvSpPr>
        <p:spPr>
          <a:xfrm>
            <a:off x="482803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채점 연결</a:t>
            </a:r>
            <a:endParaRPr lang="en-US" sz="1150" dirty="0"/>
          </a:p>
        </p:txBody>
      </p:sp>
      <p:sp>
        <p:nvSpPr>
          <p:cNvPr id="16" name="설명 내용 4-4"/>
          <p:cNvSpPr txBox="1"/>
          <p:nvPr/>
        </p:nvSpPr>
        <p:spPr>
          <a:xfrm>
            <a:off x="482803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4번 발표 20점: 출처·표·그래프·해석이 모두 나오고 결론이 자세할 때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결론이 한 문장이면 15점, 제작·해석이 빠지면 10점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통계독서탐구">
  <a:themeElements>
    <a:clrScheme name="통계독서탐구">
      <a:dk1>
        <a:srgbClr val="1B211D"/>
      </a:dk1>
      <a:lt1>
        <a:srgbClr val="FFFFFF"/>
      </a:lt1>
      <a:dk2>
        <a:srgbClr val="2F5D50"/>
      </a:dk2>
      <a:lt2>
        <a:srgbClr val="EEF3EF"/>
      </a:lt2>
      <a:accent1>
        <a:srgbClr val="2F5D50"/>
      </a:accent1>
      <a:accent2>
        <a:srgbClr val="2A78D6"/>
      </a:accent2>
      <a:accent3>
        <a:srgbClr val="6B6759"/>
      </a:accent3>
      <a:accent4>
        <a:srgbClr val="B9B4A6"/>
      </a:accent4>
      <a:accent5>
        <a:srgbClr val="E1EBE5"/>
      </a:accent5>
      <a:accent6>
        <a:srgbClr val="F3F1EA"/>
      </a:accent6>
      <a:hlink>
        <a:srgbClr val="2A78D6"/>
      </a:hlink>
      <a:folHlink>
        <a:srgbClr val="6B6759"/>
      </a:folHlink>
    </a:clrScheme>
    <a:fontScheme name="통계독서탐구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통계독서탐구 발표 예시 (간호사 지망)</dc:title>
  <dc:subject>2학년 확률과 통계 수행평가 통계독서탐구</dc:subject>
  <dc:creator>PptxGenJS</dc:creator>
  <cp:lastModifiedBy>PptxGenJS</cp:lastModifiedBy>
  <cp:revision>1</cp:revision>
  <dcterms:created xsi:type="dcterms:W3CDTF">2026-10-20T02:53:14Z</dcterms:created>
  <dcterms:modified xsi:type="dcterms:W3CDTF">2026-10-20T02:53:14Z</dcterms:modified>
</cp:coreProperties>
</file>