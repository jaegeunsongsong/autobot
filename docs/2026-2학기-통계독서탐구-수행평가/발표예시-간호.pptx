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발표" id="{25a3fe32-ac87-73d6-1491-1688794096f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50" b="0" i="0" u="none" strike="noStrike">
                <a:solidFill>
                  <a:srgbClr val="1B211D"/>
                </a:solidFill>
                <a:latin typeface="+mn-lt"/>
              </a:defRPr>
            </a:pPr>
            <a:r>
              <a:rPr sz="1050" b="0" i="0" u="none" strike="noStrike">
                <a:solidFill>
                  <a:srgbClr val="1B211D"/>
                </a:solidFill>
                <a:latin typeface="+mn-lt"/>
              </a:rPr>
              <a:t>주 5일 이상 아침식사 결식률 (단위: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여학생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39.1</c:v>
                </c:pt>
                <c:pt idx="1">
                  <c:v>40.7</c:v>
                </c:pt>
                <c:pt idx="2">
                  <c:v>42.6</c:v>
                </c:pt>
                <c:pt idx="3">
                  <c:v>44.7</c:v>
                </c:pt>
                <c:pt idx="4">
                  <c:v>45.3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남학생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1B211D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</c:v>
                </c:pt>
                <c:pt idx="1">
                  <c:v>37.4</c:v>
                </c:pt>
                <c:pt idx="2">
                  <c:v>39.7</c:v>
                </c:pt>
                <c:pt idx="3">
                  <c:v>40.2</c:v>
                </c:pt>
                <c:pt idx="4">
                  <c:v>41.9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850" u="none">
                  <a:solidFill>
                    <a:srgbClr val="1B211D"/>
                  </a:solidFill>
                  <a:latin typeface="+mn-lt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9525" cap="flat">
              <a:solidFill>
                <a:srgbClr val="E1E0D9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14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52514E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PLAIN">
    <p:bg>
      <p:bgPr>
        <a:solidFill>
          <a:srgbClr val="EEF3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제목</a:t>
            </a:r>
            <a:endParaRPr lang="en-US" sz="24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통계독서탐구 · 2학년 확률과 통계 수행평가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나의 주장과 참고 도서</a:t>
            </a:r>
            <a:endParaRPr lang="en-US" sz="2400" dirty="0"/>
          </a:p>
        </p:txBody>
      </p:sp>
      <p:sp>
        <p:nvSpPr>
          <p:cNvPr id="3" name="번호 1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1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주장"/>
          <p:cNvSpPr txBox="1"/>
          <p:nvPr/>
        </p:nvSpPr>
        <p:spPr>
          <a:xfrm>
            <a:off x="457200" y="1005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거르는 고등학생이 해마다 늘고 있다.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아침을 먹는 습관은 학습과 이어지므로, 잠과 아침부터 지키자.</a:t>
            </a:r>
            <a:endParaRPr lang="en-US" sz="2400" dirty="0"/>
          </a:p>
        </p:txBody>
      </p:sp>
      <p:sp>
        <p:nvSpPr>
          <p:cNvPr id="6" name="발표자 카드"/>
          <p:cNvSpPr/>
          <p:nvPr/>
        </p:nvSpPr>
        <p:spPr>
          <a:xfrm>
            <a:off x="45720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발표자 라벨"/>
          <p:cNvSpPr txBox="1"/>
          <p:nvPr/>
        </p:nvSpPr>
        <p:spPr>
          <a:xfrm>
            <a:off x="68580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발표자</a:t>
            </a:r>
            <a:endParaRPr lang="en-US" sz="1100" dirty="0"/>
          </a:p>
        </p:txBody>
      </p:sp>
      <p:sp>
        <p:nvSpPr>
          <p:cNvPr id="8" name="발표자"/>
          <p:cNvSpPr txBox="1"/>
          <p:nvPr/>
        </p:nvSpPr>
        <p:spPr>
          <a:xfrm>
            <a:off x="685800" y="324612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2학년 ○반 ○번 ○○○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진로: 간호사</a:t>
            </a:r>
            <a:endParaRPr lang="en-US" sz="1600" dirty="0"/>
          </a:p>
        </p:txBody>
      </p:sp>
      <p:sp>
        <p:nvSpPr>
          <p:cNvPr id="9" name="참고 도서 카드"/>
          <p:cNvSpPr/>
          <p:nvPr/>
        </p:nvSpPr>
        <p:spPr>
          <a:xfrm>
            <a:off x="4754880" y="2743200"/>
            <a:ext cx="393192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참고 도서 라벨"/>
          <p:cNvSpPr txBox="1"/>
          <p:nvPr/>
        </p:nvSpPr>
        <p:spPr>
          <a:xfrm>
            <a:off x="4983480" y="2926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참고 도서</a:t>
            </a:r>
            <a:endParaRPr lang="en-US" sz="1100" dirty="0"/>
          </a:p>
        </p:txBody>
      </p:sp>
      <p:sp>
        <p:nvSpPr>
          <p:cNvPr id="11" name="도서명"/>
          <p:cNvSpPr txBox="1"/>
          <p:nvPr/>
        </p:nvSpPr>
        <p:spPr>
          <a:xfrm>
            <a:off x="4983480" y="3246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《팩트풀니스》 한스 로슬링</a:t>
            </a:r>
            <a:endParaRPr lang="en-US" sz="1500" dirty="0"/>
          </a:p>
        </p:txBody>
      </p:sp>
      <p:sp>
        <p:nvSpPr>
          <p:cNvPr id="12" name="도서 연계"/>
          <p:cNvSpPr txBox="1"/>
          <p:nvPr/>
        </p:nvSpPr>
        <p:spPr>
          <a:xfrm>
            <a:off x="4983480" y="37033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느낌 대신 숫자로 보라, 표본이 어떻게 뽑혔는지 확인하라는 조언을 따라 5년치 숫자를 나란히 놓고 표본조사임을 확인했다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1장 설명 · 핵심 요약</a:t>
            </a:r>
            <a:endParaRPr lang="en-US" sz="2400" dirty="0"/>
          </a:p>
        </p:txBody>
      </p:sp>
      <p:sp>
        <p:nvSpPr>
          <p:cNvPr id="3" name="설명 배지 1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1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1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1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이 장이 보여 주는 것</a:t>
            </a:r>
            <a:endParaRPr lang="en-US" sz="1150" dirty="0"/>
          </a:p>
        </p:txBody>
      </p:sp>
      <p:sp>
        <p:nvSpPr>
          <p:cNvPr id="7" name="설명 내용 1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통계로 받친 주장 한 문장 + 통계 활동에 조언을 얻은 책 한 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통계로 확인할 수 있고, 내가 실천할 수 있는 것으로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진로(간호사)와 자료(청소년 생활 습관), 학습을 한 줄로 잇는다</a:t>
            </a:r>
            <a:endParaRPr lang="en-US" sz="1050" dirty="0"/>
          </a:p>
        </p:txBody>
      </p:sp>
      <p:sp>
        <p:nvSpPr>
          <p:cNvPr id="8" name="설명 카드 1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1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책에서 얻은 조언 (통계 활동용)</a:t>
            </a:r>
            <a:endParaRPr lang="en-US" sz="1150" dirty="0"/>
          </a:p>
        </p:txBody>
      </p:sp>
      <p:sp>
        <p:nvSpPr>
          <p:cNvPr id="10" name="설명 내용 1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조언 1: 느낌 대신 숫자로 보라 → 3장에서 5년치 숫자를 나란히 놓고 비교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조언 2: 표본으로 전체를 말할 때는 표본이 어떻게 뽑혔는지 확인하라 → 2장에서 표본조사임을 확인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주장은 책이 아니라 통계(결식률·수면 지표)에서 나왔다</a:t>
            </a:r>
            <a:endParaRPr lang="en-US" sz="1050" dirty="0"/>
          </a:p>
        </p:txBody>
      </p:sp>
      <p:sp>
        <p:nvSpPr>
          <p:cNvPr id="11" name="설명 카드 1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1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실제로 읽을 분량</a:t>
            </a:r>
            <a:endParaRPr lang="en-US" sz="1150" dirty="0"/>
          </a:p>
        </p:txBody>
      </p:sp>
      <p:sp>
        <p:nvSpPr>
          <p:cNvPr id="13" name="설명 내용 1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1장과 '부정 본능' 부분만 읽어도 된다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 도서관에 있는 책. 통계·데이터를 다룬 다른 책도 가능</a:t>
            </a:r>
            <a:endParaRPr lang="en-US" sz="1050" dirty="0"/>
          </a:p>
        </p:txBody>
      </p:sp>
      <p:sp>
        <p:nvSpPr>
          <p:cNvPr id="14" name="설명 카드 1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1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1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1번 도서 20점: 도서명·저자 + 통계 활동에 얻은 조언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책 소개만 쓰면 15점, 도서명·저자만 있으면 5점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자료 출처와 내가 만든 표</a:t>
            </a:r>
            <a:endParaRPr lang="en-US" sz="2400" dirty="0"/>
          </a:p>
        </p:txBody>
      </p:sp>
      <p:sp>
        <p:nvSpPr>
          <p:cNvPr id="3" name="번호 2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2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5" name="출처 카드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출처"/>
          <p:cNvSpPr txBox="1"/>
          <p:nvPr/>
        </p:nvSpPr>
        <p:spPr>
          <a:xfrm>
            <a:off x="640080" y="100584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기관: 질병관리청  ·  조사 이름: 「청소년건강행태조사」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대상: 전국 중1~고3(대개 만 12~18세), 800개교 약 6만 명 표본, 매년 익명 온라인 조사 → 일부만 뽑아 조사(표본조사)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얻는 길: kosis.kr → 국내통계 → 보건 → 청소년건강행태조사 → '아침식사 결식률'  (또는 kdca.go.kr/yhs → 통계 메뉴)</a:t>
            </a:r>
            <a:endParaRPr lang="en-US" sz="1100" dirty="0"/>
          </a:p>
        </p:txBody>
      </p:sp>
      <p:sp>
        <p:nvSpPr>
          <p:cNvPr id="7" name="원자료 라벨"/>
          <p:cNvSpPr txBox="1"/>
          <p:nvPr/>
        </p:nvSpPr>
        <p:spPr>
          <a:xfrm>
            <a:off x="457200" y="20848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원자료 표 (일부 발췌, 단위: %)</a:t>
            </a:r>
            <a:endParaRPr lang="en-US" sz="1050" dirty="0"/>
          </a:p>
        </p:txBody>
      </p:sp>
      <p:graphicFrame>
        <p:nvGraphicFramePr>
          <p:cNvPr id="4" name="원자료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59152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658368"/>
                <a:gridCol w="658368"/>
                <a:gridCol w="658368"/>
                <a:gridCol w="658368"/>
                <a:gridCol w="658368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전체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중학교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고등학교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B211D"/>
                          </a:solidFill>
                        </a:rPr>
                        <a:t>…</a:t>
                      </a:r>
                      <a:endParaRPr lang="en-US" sz="8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원자료 안내"/>
          <p:cNvSpPr txBox="1"/>
          <p:nvPr/>
        </p:nvSpPr>
        <p:spPr>
          <a:xfrm>
            <a:off x="457200" y="38313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'아침식사 결식률(주 5일 이상)' 표. 2005년부터 연도별로 전체·성별·학교급·학년·시도 행이 있다(학년·시도 행 생략). …은 옮기지 않은 칸</a:t>
            </a:r>
            <a:endParaRPr lang="en-US" sz="900" dirty="0"/>
          </a:p>
        </p:txBody>
      </p:sp>
      <p:sp>
        <p:nvSpPr>
          <p:cNvPr id="10" name="화살표"/>
          <p:cNvSpPr txBox="1"/>
          <p:nvPr/>
        </p:nvSpPr>
        <p:spPr>
          <a:xfrm>
            <a:off x="457200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가공표 라벨"/>
          <p:cNvSpPr txBox="1"/>
          <p:nvPr/>
        </p:nvSpPr>
        <p:spPr>
          <a:xfrm>
            <a:off x="502920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chemeClr val="tx2"/>
                </a:solidFill>
              </a:rPr>
              <a:t>내가 다시 만든 표 (단위: %)</a:t>
            </a:r>
            <a:endParaRPr lang="en-US" sz="1050" dirty="0"/>
          </a:p>
        </p:txBody>
      </p:sp>
      <p:graphicFrame>
        <p:nvGraphicFramePr>
          <p:cNvPr id="7" name="내가 만든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2359152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566928"/>
                <a:gridCol w="566928"/>
                <a:gridCol w="566928"/>
                <a:gridCol w="566928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구분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11D"/>
                          </a:solidFill>
                        </a:rPr>
                        <a:t>2025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E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남학생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37.0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37.4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40.2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41.9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여학생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39.1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40.7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42.6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44.7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B211D"/>
                          </a:solidFill>
                        </a:rPr>
                        <a:t>45.3</a:t>
                      </a:r>
                      <a:endParaRPr lang="en-US" sz="95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B4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가공 안내"/>
          <p:cNvSpPr txBox="1"/>
          <p:nvPr/>
        </p:nvSpPr>
        <p:spPr>
          <a:xfrm>
            <a:off x="5029200" y="32278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남·여 두 줄, 최근 5년만 골라 옮겼다. 제목과 단위(%)를 붙였다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2장 설명 · 핵심 요약</a:t>
            </a:r>
            <a:endParaRPr lang="en-US" sz="2400" dirty="0"/>
          </a:p>
        </p:txBody>
      </p:sp>
      <p:sp>
        <p:nvSpPr>
          <p:cNvPr id="3" name="설명 배지 2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2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2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2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실재하는 자료다</a:t>
            </a:r>
            <a:endParaRPr lang="en-US" sz="1150" dirty="0"/>
          </a:p>
        </p:txBody>
      </p:sp>
      <p:sp>
        <p:nvSpPr>
          <p:cNvPr id="7" name="설명 내용 2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질병관리청이 2005년부터 매년 하는 국가승인통계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대상 중1~고3(만 12~18세), 전국 800개교 약 6만 명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익명 온라인 조사이므로 표본조사다</a:t>
            </a:r>
            <a:endParaRPr lang="en-US" sz="1050" dirty="0"/>
          </a:p>
        </p:txBody>
      </p:sp>
      <p:sp>
        <p:nvSpPr>
          <p:cNvPr id="8" name="설명 카드 2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2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얻는 길 (링크)</a:t>
            </a:r>
            <a:endParaRPr lang="en-US" sz="1150" dirty="0"/>
          </a:p>
        </p:txBody>
      </p:sp>
      <p:sp>
        <p:nvSpPr>
          <p:cNvPr id="10" name="설명 내용 2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kosis.kr → 국내통계 → 보건 → 청소년건강행태조사 → 아침식사 결식률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kdca.go.kr/yhs → 통계 메뉴 (같은 표, 엑셀 내려받기)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수면 지표(주중 평균 수면시간, 주관적 수면충족률)도 같은 목록에 있다</a:t>
            </a:r>
            <a:endParaRPr lang="en-US" sz="1050" dirty="0"/>
          </a:p>
        </p:txBody>
      </p:sp>
      <p:sp>
        <p:nvSpPr>
          <p:cNvPr id="11" name="설명 카드 2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2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원자료 → 가공</a:t>
            </a:r>
            <a:endParaRPr lang="en-US" sz="1150" dirty="0"/>
          </a:p>
        </p:txBody>
      </p:sp>
      <p:sp>
        <p:nvSpPr>
          <p:cNvPr id="13" name="설명 내용 2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원자료: 연도(2005~) × 구분(전체·남·여·학교급·학년·시도)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남·여 두 줄, 최근 5년만 골라 옮김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뜻: 최근 7일 중 아침을 5일 이상 안 먹은 학생의 비율</a:t>
            </a:r>
            <a:endParaRPr lang="en-US" sz="1050" dirty="0"/>
          </a:p>
        </p:txBody>
      </p:sp>
      <p:sp>
        <p:nvSpPr>
          <p:cNvPr id="14" name="설명 카드 2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2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2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출처(기관·조사 이름·링크)를 표현했는가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모두 조사인지 일부 조사인지 밝혔는가(표본조사)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 전·후를 함께 보여 신뢰도를 높였는가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그래프와 해석</a:t>
            </a:r>
            <a:endParaRPr lang="en-US" sz="2400" dirty="0"/>
          </a:p>
        </p:txBody>
      </p:sp>
      <p:sp>
        <p:nvSpPr>
          <p:cNvPr id="3" name="번호 3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3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graphicFrame>
        <p:nvGraphicFramePr>
          <p:cNvPr id="5" name="주 5일 이상 아침식사 결식률 (단위: %)" descr=""/>
          <p:cNvGraphicFramePr/>
          <p:nvPr/>
        </p:nvGraphicFramePr>
        <p:xfrm>
          <a:off x="457200" y="960120"/>
          <a:ext cx="8229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해석 카드 1"/>
          <p:cNvSpPr/>
          <p:nvPr/>
        </p:nvSpPr>
        <p:spPr>
          <a:xfrm>
            <a:off x="45720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해석 라벨 1"/>
          <p:cNvSpPr txBox="1"/>
          <p:nvPr/>
        </p:nvSpPr>
        <p:spPr>
          <a:xfrm>
            <a:off x="60350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① 숫자로 말하기</a:t>
            </a:r>
            <a:endParaRPr lang="en-US" sz="1000" dirty="0"/>
          </a:p>
        </p:txBody>
      </p:sp>
      <p:sp>
        <p:nvSpPr>
          <p:cNvPr id="8" name="해석 1"/>
          <p:cNvSpPr txBox="1"/>
          <p:nvPr/>
        </p:nvSpPr>
        <p:spPr>
          <a:xfrm>
            <a:off x="60350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여학생 39.1% → 45.3%(+6.2%p), 남학생 37.0% → 41.9%(+4.9%p), 2021→2025. 둘 다 해마다 늘었고 여학생이 매년 높다</a:t>
            </a:r>
            <a:endParaRPr lang="en-US" sz="950" dirty="0"/>
          </a:p>
        </p:txBody>
      </p:sp>
      <p:sp>
        <p:nvSpPr>
          <p:cNvPr id="9" name="해석 카드 2"/>
          <p:cNvSpPr/>
          <p:nvPr/>
        </p:nvSpPr>
        <p:spPr>
          <a:xfrm>
            <a:off x="324612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해석 라벨 2"/>
          <p:cNvSpPr txBox="1"/>
          <p:nvPr/>
        </p:nvSpPr>
        <p:spPr>
          <a:xfrm>
            <a:off x="339242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② 의견 또는 추측</a:t>
            </a:r>
            <a:endParaRPr lang="en-US" sz="1000" dirty="0"/>
          </a:p>
        </p:txBody>
      </p:sp>
      <p:sp>
        <p:nvSpPr>
          <p:cNvPr id="11" name="해석 2"/>
          <p:cNvSpPr txBox="1"/>
          <p:nvPr/>
        </p:nvSpPr>
        <p:spPr>
          <a:xfrm>
            <a:off x="339242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잠이 부족해 아침보다 잠을 택한다고 본다. 아침을 거르고 잠도 모자란 학생은 오전 수업 집중이 떨어져 성적에도 영향이 있을 것이라고 추측한다</a:t>
            </a:r>
            <a:endParaRPr lang="en-US" sz="950" dirty="0"/>
          </a:p>
        </p:txBody>
      </p:sp>
      <p:sp>
        <p:nvSpPr>
          <p:cNvPr id="12" name="해석 카드 3"/>
          <p:cNvSpPr/>
          <p:nvPr/>
        </p:nvSpPr>
        <p:spPr>
          <a:xfrm>
            <a:off x="6035040" y="3108960"/>
            <a:ext cx="26517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해석 라벨 3"/>
          <p:cNvSpPr txBox="1"/>
          <p:nvPr/>
        </p:nvSpPr>
        <p:spPr>
          <a:xfrm>
            <a:off x="6181344" y="3172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③ 의견·추측의 근거</a:t>
            </a:r>
            <a:endParaRPr lang="en-US" sz="1000" dirty="0"/>
          </a:p>
        </p:txBody>
      </p:sp>
      <p:sp>
        <p:nvSpPr>
          <p:cNvPr id="14" name="해석 3"/>
          <p:cNvSpPr txBox="1"/>
          <p:nvPr/>
        </p:nvSpPr>
        <p:spPr>
          <a:xfrm>
            <a:off x="6181344" y="3438144"/>
            <a:ext cx="23774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chemeClr val="tx1"/>
                </a:solidFill>
              </a:rPr>
              <a:t>같은 조사(2024): 주중 평균 수면 남 6.5시간, 여 5.9시간(권장 8~10시간), 수면충족률 남 27.1%, 여 16.5%. 농촌진흥청 설문(2002): 아침을 매일 먹은 학생 수능 평균 294점, 주 2일 이하 275점(400점 만점)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3장 설명 · 핵심 요약</a:t>
            </a:r>
            <a:endParaRPr lang="en-US" sz="2400" dirty="0"/>
          </a:p>
        </p:txBody>
      </p:sp>
      <p:sp>
        <p:nvSpPr>
          <p:cNvPr id="3" name="설명 배지 3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3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3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3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그래프</a:t>
            </a:r>
            <a:endParaRPr lang="en-US" sz="1150" dirty="0"/>
          </a:p>
        </p:txBody>
      </p:sp>
      <p:sp>
        <p:nvSpPr>
          <p:cNvPr id="7" name="설명 내용 3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계열이 둘이라 색과 범례로 구분, 세로축 0~50%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꺾은선은 '해마다 어떻게 변했나'를 보여 준다. 확률분포표는 쓰지 않았다(그래프로 충분)</a:t>
            </a:r>
            <a:endParaRPr lang="en-US" sz="1050" dirty="0"/>
          </a:p>
        </p:txBody>
      </p:sp>
      <p:sp>
        <p:nvSpPr>
          <p:cNvPr id="8" name="설명 카드 3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3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의견과 근거를 잇는 법</a:t>
            </a:r>
            <a:endParaRPr lang="en-US" sz="1150" dirty="0"/>
          </a:p>
        </p:txBody>
      </p:sp>
      <p:sp>
        <p:nvSpPr>
          <p:cNvPr id="10" name="설명 내용 3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②는 가공한 숫자를 보고 든 추측: '잠이 부족해 거른다, 학습에도 영향'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③은 그 추측을 받치는 다른 숫자: 수면 시간·충족률, 아침식사와 수능 점수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추측과 근거가 같은 이야기를 해야 한다</a:t>
            </a:r>
            <a:endParaRPr lang="en-US" sz="1050" dirty="0"/>
          </a:p>
        </p:txBody>
      </p:sp>
      <p:sp>
        <p:nvSpPr>
          <p:cNvPr id="11" name="설명 카드 3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3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근거 자료는 어디서</a:t>
            </a:r>
            <a:endParaRPr lang="en-US" sz="1150" dirty="0"/>
          </a:p>
        </p:txBody>
      </p:sp>
      <p:sp>
        <p:nvSpPr>
          <p:cNvPr id="13" name="설명 내용 3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수면 지표: 결식률과 같은 지표 목록(kdca.go.kr/yhs). 2024년 결과 보도자료에도 나온다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아침식사·수능: 농촌진흥청·다음 설문(2002. 7. 발표), 농촌진흥청 자료 '아침밥 먹으면 왜 좋을까?'(rda.go.kr)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권장 수면 8~10시간: 미국수면재단(thensf.org)</a:t>
            </a:r>
            <a:endParaRPr lang="en-US" sz="1050" dirty="0"/>
          </a:p>
        </p:txBody>
      </p:sp>
      <p:sp>
        <p:nvSpPr>
          <p:cNvPr id="14" name="설명 카드 3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3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3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늘고 준 것을 숫자로 표현했는가(①)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가공된 자료로 의견 도출 또는 추측을 했는가(②)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의견·추측의 근거가 있는가(③, 출처와 함께)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결론</a:t>
            </a:r>
            <a:endParaRPr lang="en-US" sz="2400" dirty="0"/>
          </a:p>
        </p:txBody>
      </p:sp>
      <p:sp>
        <p:nvSpPr>
          <p:cNvPr id="3" name="번호 4"/>
          <p:cNvSpPr/>
          <p:nvPr/>
        </p:nvSpPr>
        <p:spPr>
          <a:xfrm>
            <a:off x="457200" y="3566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번호 글자 4"/>
          <p:cNvSpPr txBox="1"/>
          <p:nvPr/>
        </p:nvSpPr>
        <p:spPr>
          <a:xfrm>
            <a:off x="457200" y="356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5" name="결론 카드 1"/>
          <p:cNvSpPr/>
          <p:nvPr/>
        </p:nvSpPr>
        <p:spPr>
          <a:xfrm>
            <a:off x="457200" y="96012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결론 라벨 1"/>
          <p:cNvSpPr txBox="1"/>
          <p:nvPr/>
        </p:nvSpPr>
        <p:spPr>
          <a:xfrm>
            <a:off x="685800" y="1051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통계가 보여 준 것</a:t>
            </a:r>
            <a:endParaRPr lang="en-US" sz="1100" dirty="0"/>
          </a:p>
        </p:txBody>
      </p:sp>
      <p:sp>
        <p:nvSpPr>
          <p:cNvPr id="7" name="결론 1"/>
          <p:cNvSpPr txBox="1"/>
          <p:nvPr/>
        </p:nvSpPr>
        <p:spPr>
          <a:xfrm>
            <a:off x="685800" y="134416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아침 결식은 10명 중 4명을 넘고(2025년 여학생 45.3%, 남학생 41.9%) 5년째 늘었다. 잠은 권장(8~10시간)보다 2시간 넘게 모자란다(주중 남 6.5, 여 5.9시간).</a:t>
            </a:r>
            <a:endParaRPr lang="en-US" sz="1300" dirty="0"/>
          </a:p>
        </p:txBody>
      </p:sp>
      <p:sp>
        <p:nvSpPr>
          <p:cNvPr id="8" name="결론 카드 2"/>
          <p:cNvSpPr/>
          <p:nvPr/>
        </p:nvSpPr>
        <p:spPr>
          <a:xfrm>
            <a:off x="457200" y="219456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결론 라벨 2"/>
          <p:cNvSpPr txBox="1"/>
          <p:nvPr/>
        </p:nvSpPr>
        <p:spPr>
          <a:xfrm>
            <a:off x="685800" y="22860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통계 분석</a:t>
            </a:r>
            <a:endParaRPr lang="en-US" sz="1100" dirty="0"/>
          </a:p>
        </p:txBody>
      </p:sp>
      <p:sp>
        <p:nvSpPr>
          <p:cNvPr id="10" name="결론 2"/>
          <p:cNvSpPr txBox="1"/>
          <p:nvPr/>
        </p:nvSpPr>
        <p:spPr>
          <a:xfrm>
            <a:off x="685800" y="25786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결식은 잠 부족과 같이 움직인다. 아침을 매일 먹은 학생이 주 2일 이하 먹은 학생보다 수능 평균이 19점 높았다(2002년 설문, 상관관계). 잠과 아침은 따로가 아니라 한 묶음의 생활 습관이고, 둘 다 학습과 이어진다.</a:t>
            </a:r>
            <a:endParaRPr lang="en-US" sz="1300" dirty="0"/>
          </a:p>
        </p:txBody>
      </p:sp>
      <p:sp>
        <p:nvSpPr>
          <p:cNvPr id="11" name="결론 카드 3"/>
          <p:cNvSpPr/>
          <p:nvPr/>
        </p:nvSpPr>
        <p:spPr>
          <a:xfrm>
            <a:off x="457200" y="3429000"/>
            <a:ext cx="8229600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결론 라벨 3"/>
          <p:cNvSpPr txBox="1"/>
          <p:nvPr/>
        </p:nvSpPr>
        <p:spPr>
          <a:xfrm>
            <a:off x="68580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결론</a:t>
            </a:r>
            <a:endParaRPr lang="en-US" sz="1100" dirty="0"/>
          </a:p>
        </p:txBody>
      </p:sp>
      <p:sp>
        <p:nvSpPr>
          <p:cNvPr id="13" name="결론 3"/>
          <p:cNvSpPr txBox="1"/>
          <p:nvPr/>
        </p:nvSpPr>
        <p:spPr>
          <a:xfrm>
            <a:off x="685800" y="381304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우리 반부터 '11시 취침, 7시간 수면, 10분 아침'을 2주 실천하고, 실천 전후 오전 수업 집중도와 지각을 비교해 보자. 나는 간호학과 진학을 희망하며, 환자의 생활 습관을 이렇게 숫자로 상담하는 간호사가 되고 싶다.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60120" y="274320"/>
            <a:ext cx="7726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4장 설명 · 핵심 요약</a:t>
            </a:r>
            <a:endParaRPr lang="en-US" sz="2400" dirty="0"/>
          </a:p>
        </p:txBody>
      </p:sp>
      <p:sp>
        <p:nvSpPr>
          <p:cNvPr id="3" name="설명 배지 4"/>
          <p:cNvSpPr/>
          <p:nvPr/>
        </p:nvSpPr>
        <p:spPr>
          <a:xfrm>
            <a:off x="457200" y="384048"/>
            <a:ext cx="420624" cy="329184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설명 배지 글자 4"/>
          <p:cNvSpPr txBox="1"/>
          <p:nvPr/>
        </p:nvSpPr>
        <p:spPr>
          <a:xfrm>
            <a:off x="457200" y="384048"/>
            <a:ext cx="420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설명</a:t>
            </a:r>
            <a:endParaRPr lang="en-US" sz="1000" dirty="0"/>
          </a:p>
        </p:txBody>
      </p:sp>
      <p:sp>
        <p:nvSpPr>
          <p:cNvPr id="5" name="설명 카드 4-1"/>
          <p:cNvSpPr/>
          <p:nvPr/>
        </p:nvSpPr>
        <p:spPr>
          <a:xfrm>
            <a:off x="45720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6" name="설명 제목 4-1"/>
          <p:cNvSpPr txBox="1"/>
          <p:nvPr/>
        </p:nvSpPr>
        <p:spPr>
          <a:xfrm>
            <a:off x="62179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결론의 구조</a:t>
            </a:r>
            <a:endParaRPr lang="en-US" sz="1150" dirty="0"/>
          </a:p>
        </p:txBody>
      </p:sp>
      <p:sp>
        <p:nvSpPr>
          <p:cNvPr id="7" name="설명 내용 4-1"/>
          <p:cNvSpPr txBox="1"/>
          <p:nvPr/>
        </p:nvSpPr>
        <p:spPr>
          <a:xfrm>
            <a:off x="62179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통계가 보여 준 것(숫자) → 통계 분석(숫자를 어떻게 읽었나) → 결론(그래서 무엇을 하나)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학교가 해 주는 것이 아니라 내가·우리 반이 할 수 있는 일로 끝낸다</a:t>
            </a:r>
            <a:endParaRPr lang="en-US" sz="1050" dirty="0"/>
          </a:p>
        </p:txBody>
      </p:sp>
      <p:sp>
        <p:nvSpPr>
          <p:cNvPr id="8" name="설명 카드 4-2"/>
          <p:cNvSpPr/>
          <p:nvPr/>
        </p:nvSpPr>
        <p:spPr>
          <a:xfrm>
            <a:off x="4663440" y="9601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9" name="설명 제목 4-2"/>
          <p:cNvSpPr txBox="1"/>
          <p:nvPr/>
        </p:nvSpPr>
        <p:spPr>
          <a:xfrm>
            <a:off x="4828032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효과 통계의 출처와 한계</a:t>
            </a:r>
            <a:endParaRPr lang="en-US" sz="1150" dirty="0"/>
          </a:p>
        </p:txBody>
      </p:sp>
      <p:sp>
        <p:nvSpPr>
          <p:cNvPr id="10" name="설명 내용 4-2"/>
          <p:cNvSpPr txBox="1"/>
          <p:nvPr/>
        </p:nvSpPr>
        <p:spPr>
          <a:xfrm>
            <a:off x="4828032" y="13441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농촌진흥청·다음 설문(2002. 7. 발표): 대학 1·2학년 3,612명에게 고교 때 아침 식사 습관과 수능 점수를 물음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매일 먹음 294점 vs 주 2일 이하 275점(400점 만점), 내신 평균 3.7 vs 4.4등급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오래된 자기보고 조사라 상관관계다. 2017년 청소년건강행태조사 분석 논문(한국가정의학회지, 2019)도 같은 방향</a:t>
            </a:r>
            <a:endParaRPr lang="en-US" sz="1050" dirty="0"/>
          </a:p>
        </p:txBody>
      </p:sp>
      <p:sp>
        <p:nvSpPr>
          <p:cNvPr id="11" name="설명 카드 4-3"/>
          <p:cNvSpPr/>
          <p:nvPr/>
        </p:nvSpPr>
        <p:spPr>
          <a:xfrm>
            <a:off x="45720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2" name="설명 제목 4-3"/>
          <p:cNvSpPr txBox="1"/>
          <p:nvPr/>
        </p:nvSpPr>
        <p:spPr>
          <a:xfrm>
            <a:off x="62179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실천 가능한 결론</a:t>
            </a:r>
            <a:endParaRPr lang="en-US" sz="1150" dirty="0"/>
          </a:p>
        </p:txBody>
      </p:sp>
      <p:sp>
        <p:nvSpPr>
          <p:cNvPr id="13" name="설명 내용 4-3"/>
          <p:cNvSpPr txBox="1"/>
          <p:nvPr/>
        </p:nvSpPr>
        <p:spPr>
          <a:xfrm>
            <a:off x="62179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'2주 실천 + 전후 비교'처럼 바로 할 수 있고 숫자로 확인할 수 있는 것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전후 비교 항목: 결식 일수, 오전 집중도(자기 평가), 지각</a:t>
            </a:r>
            <a:endParaRPr lang="en-US" sz="1050" dirty="0"/>
          </a:p>
        </p:txBody>
      </p:sp>
      <p:sp>
        <p:nvSpPr>
          <p:cNvPr id="14" name="설명 카드 4-4"/>
          <p:cNvSpPr/>
          <p:nvPr/>
        </p:nvSpPr>
        <p:spPr>
          <a:xfrm>
            <a:off x="4663440" y="278892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CE5DF"/>
            </a:solidFill>
            <a:prstDash val="solid"/>
          </a:ln>
        </p:spPr>
      </p:sp>
      <p:sp>
        <p:nvSpPr>
          <p:cNvPr id="15" name="설명 제목 4-4"/>
          <p:cNvSpPr txBox="1"/>
          <p:nvPr/>
        </p:nvSpPr>
        <p:spPr>
          <a:xfrm>
            <a:off x="4828032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chemeClr val="tx2"/>
                </a:solidFill>
              </a:rPr>
              <a:t>채점 연결</a:t>
            </a:r>
            <a:endParaRPr lang="en-US" sz="1150" dirty="0"/>
          </a:p>
        </p:txBody>
      </p:sp>
      <p:sp>
        <p:nvSpPr>
          <p:cNvPr id="16" name="설명 내용 4-4"/>
          <p:cNvSpPr txBox="1"/>
          <p:nvPr/>
        </p:nvSpPr>
        <p:spPr>
          <a:xfrm>
            <a:off x="4828032" y="3172968"/>
            <a:ext cx="3703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4번 발표 20점: 출처·표·그래프·해석이 모두 나오고 결론이 자세할 때</a:t>
            </a:r>
            <a:endParaRPr lang="en-US" sz="10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chemeClr val="tx1"/>
                </a:solidFill>
              </a:rPr>
              <a:t>결론이 한 문장이면 15점, 제작·해석이 빠지면 10점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75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통계독서탐구">
  <a:themeElements>
    <a:clrScheme name="통계독서탐구">
      <a:dk1>
        <a:srgbClr val="1B211D"/>
      </a:dk1>
      <a:lt1>
        <a:srgbClr val="FFFFFF"/>
      </a:lt1>
      <a:dk2>
        <a:srgbClr val="2F5D50"/>
      </a:dk2>
      <a:lt2>
        <a:srgbClr val="EEF3EF"/>
      </a:lt2>
      <a:accent1>
        <a:srgbClr val="2F5D50"/>
      </a:accent1>
      <a:accent2>
        <a:srgbClr val="2A78D6"/>
      </a:accent2>
      <a:accent3>
        <a:srgbClr val="6B6759"/>
      </a:accent3>
      <a:accent4>
        <a:srgbClr val="B9B4A6"/>
      </a:accent4>
      <a:accent5>
        <a:srgbClr val="E1EBE5"/>
      </a:accent5>
      <a:accent6>
        <a:srgbClr val="F3F1EA"/>
      </a:accent6>
      <a:hlink>
        <a:srgbClr val="2A78D6"/>
      </a:hlink>
      <a:folHlink>
        <a:srgbClr val="6B6759"/>
      </a:folHlink>
    </a:clrScheme>
    <a:fontScheme name="통계독서탐구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통계독서탐구 발표 예시 (간호사 지망)</dc:title>
  <dc:subject>2학년 확률과 통계 수행평가 통계독서탐구</dc:subject>
  <dc:creator>PptxGenJS</dc:creator>
  <cp:lastModifiedBy>PptxGenJS</cp:lastModifiedBy>
  <cp:revision>1</cp:revision>
  <dcterms:created xsi:type="dcterms:W3CDTF">2026-10-22T04:58:47Z</dcterms:created>
  <dcterms:modified xsi:type="dcterms:W3CDTF">2026-10-22T04:58:47Z</dcterms:modified>
</cp:coreProperties>
</file>