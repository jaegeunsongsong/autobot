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발표" id="{c3172b89-0b50-be91-a43d-09cb2a506dd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211D"/>
                </a:solidFill>
                <a:latin typeface="+mn-lt"/>
              </a:defRPr>
            </a:pPr>
            <a:r>
              <a:rPr sz="1050" b="0" i="0" u="none" strike="noStrike">
                <a:solidFill>
                  <a:srgbClr val="1B211D"/>
                </a:solidFill>
                <a:latin typeface="+mn-lt"/>
              </a:rPr>
              <a:t>전체 초·중·고 학생 수 (만 명)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1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532.3</c:v>
                </c:pt>
                <c:pt idx="1">
                  <c:v>527.5</c:v>
                </c:pt>
                <c:pt idx="2">
                  <c:v>520.9</c:v>
                </c:pt>
                <c:pt idx="3">
                  <c:v>513.2</c:v>
                </c:pt>
                <c:pt idx="4">
                  <c:v>501.5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50" u="none">
                  <a:solidFill>
                    <a:srgbClr val="1B21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211D"/>
                </a:solidFill>
                <a:latin typeface="+mn-lt"/>
              </a:defRPr>
            </a:pPr>
            <a:r>
              <a:rPr sz="1050" b="0" i="0" u="none" strike="noStrike">
                <a:solidFill>
                  <a:srgbClr val="1B211D"/>
                </a:solidFill>
                <a:latin typeface="+mn-lt"/>
              </a:rPr>
              <a:t>다문화 학생 수 (만 명)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다문화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1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16.9</c:v>
                </c:pt>
                <c:pt idx="2">
                  <c:v>18.1</c:v>
                </c:pt>
                <c:pt idx="3">
                  <c:v>19.4</c:v>
                </c:pt>
                <c:pt idx="4">
                  <c:v>20.2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B21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211D"/>
                </a:solidFill>
                <a:latin typeface="+mn-lt"/>
              </a:defRPr>
            </a:pPr>
            <a:r>
              <a:rPr sz="1050" b="0" i="0" u="none" strike="noStrike">
                <a:solidFill>
                  <a:srgbClr val="1B211D"/>
                </a:solidFill>
                <a:latin typeface="+mn-lt"/>
              </a:rPr>
              <a:t>다문화 학생 비율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비율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1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3.2</c:v>
                </c:pt>
                <c:pt idx="2">
                  <c:v>3.5</c:v>
                </c:pt>
                <c:pt idx="3">
                  <c:v>3.8</c:v>
                </c:pt>
                <c:pt idx="4">
                  <c:v>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B211D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제목</a:t>
            </a:r>
            <a:endParaRPr lang="en-US" sz="2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통계독서탐구 · 2학년 확률과 통계 수행평가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IN">
    <p:bg>
      <p:bgPr>
        <a:solidFill>
          <a:srgbClr val="EE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제목</a:t>
            </a:r>
            <a:endParaRPr lang="en-US" sz="2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통계독서탐구 · 2학년 확률과 통계 수행평가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나의 주장과 참고 도서</a:t>
            </a:r>
            <a:endParaRPr lang="en-US" sz="2400" dirty="0"/>
          </a:p>
        </p:txBody>
      </p:sp>
      <p:sp>
        <p:nvSpPr>
          <p:cNvPr id="3" name="번호 1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1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주장"/>
          <p:cNvSpPr txBox="1"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학생은 줄고 다문화 학생은 늘어 비율이 4%를 넘었다.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교사를 지망하는 학생은 한국어·다문화 교육을 고민하고 대비해야 한다.</a:t>
            </a:r>
            <a:endParaRPr lang="en-US" sz="2400" dirty="0"/>
          </a:p>
        </p:txBody>
      </p:sp>
      <p:sp>
        <p:nvSpPr>
          <p:cNvPr id="6" name="발표자 카드"/>
          <p:cNvSpPr/>
          <p:nvPr/>
        </p:nvSpPr>
        <p:spPr>
          <a:xfrm>
            <a:off x="457200" y="274320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발표자 라벨"/>
          <p:cNvSpPr txBox="1"/>
          <p:nvPr/>
        </p:nvSpPr>
        <p:spPr>
          <a:xfrm>
            <a:off x="68580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발표자</a:t>
            </a:r>
            <a:endParaRPr lang="en-US" sz="1100" dirty="0"/>
          </a:p>
        </p:txBody>
      </p:sp>
      <p:sp>
        <p:nvSpPr>
          <p:cNvPr id="8" name="발표자"/>
          <p:cNvSpPr txBox="1"/>
          <p:nvPr/>
        </p:nvSpPr>
        <p:spPr>
          <a:xfrm>
            <a:off x="685800" y="32461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2학년 ○반 ○번 ○○○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진로: 초등학교 교사</a:t>
            </a:r>
            <a:endParaRPr lang="en-US" sz="1600" dirty="0"/>
          </a:p>
        </p:txBody>
      </p:sp>
      <p:sp>
        <p:nvSpPr>
          <p:cNvPr id="9" name="참고 도서 카드"/>
          <p:cNvSpPr/>
          <p:nvPr/>
        </p:nvSpPr>
        <p:spPr>
          <a:xfrm>
            <a:off x="4754880" y="274320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참고 도서 라벨"/>
          <p:cNvSpPr txBox="1"/>
          <p:nvPr/>
        </p:nvSpPr>
        <p:spPr>
          <a:xfrm>
            <a:off x="498348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참고 도서</a:t>
            </a:r>
            <a:endParaRPr lang="en-US" sz="1100" dirty="0"/>
          </a:p>
        </p:txBody>
      </p:sp>
      <p:sp>
        <p:nvSpPr>
          <p:cNvPr id="11" name="도서명"/>
          <p:cNvSpPr txBox="1"/>
          <p:nvPr/>
        </p:nvSpPr>
        <p:spPr>
          <a:xfrm>
            <a:off x="498348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《틀리지 않는 법》 조던 엘렌버그</a:t>
            </a:r>
            <a:endParaRPr lang="en-US" sz="1500" dirty="0"/>
          </a:p>
        </p:txBody>
      </p:sp>
      <p:sp>
        <p:nvSpPr>
          <p:cNvPr id="12" name="도서 연계"/>
          <p:cNvSpPr txBox="1"/>
          <p:nvPr/>
        </p:nvSpPr>
        <p:spPr>
          <a:xfrm>
            <a:off x="4983480" y="3703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숫자보다 '무엇에 대한 비율인지'를 보라는 말을 따라 다문화 학생 수·전체 학생 수·비율을 함께 봤다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1장 설명 · 핵심 요약</a:t>
            </a:r>
            <a:endParaRPr lang="en-US" sz="2400" dirty="0"/>
          </a:p>
        </p:txBody>
      </p:sp>
      <p:sp>
        <p:nvSpPr>
          <p:cNvPr id="3" name="설명 배지 1"/>
          <p:cNvSpPr/>
          <p:nvPr/>
        </p:nvSpPr>
        <p:spPr>
          <a:xfrm>
            <a:off x="457200" y="384048"/>
            <a:ext cx="420624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설명 배지 글자 1"/>
          <p:cNvSpPr txBox="1"/>
          <p:nvPr/>
        </p:nvSpPr>
        <p:spPr>
          <a:xfrm>
            <a:off x="457200" y="3840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설명</a:t>
            </a:r>
            <a:endParaRPr lang="en-US" sz="1000" dirty="0"/>
          </a:p>
        </p:txBody>
      </p:sp>
      <p:sp>
        <p:nvSpPr>
          <p:cNvPr id="5" name="설명 카드 1-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6" name="설명 제목 1-1"/>
          <p:cNvSpPr txBox="1"/>
          <p:nvPr/>
        </p:nvSpPr>
        <p:spPr>
          <a:xfrm>
            <a:off x="62179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이 장이 보여 주는 것</a:t>
            </a:r>
            <a:endParaRPr lang="en-US" sz="1150" dirty="0"/>
          </a:p>
        </p:txBody>
      </p:sp>
      <p:sp>
        <p:nvSpPr>
          <p:cNvPr id="7" name="설명 내용 1-1"/>
          <p:cNvSpPr txBox="1"/>
          <p:nvPr/>
        </p:nvSpPr>
        <p:spPr>
          <a:xfrm>
            <a:off x="62179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주장 한 문장과 참고 도서 한 권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'수가 는다'와 '비율이 는다'를 함께 말하는 주장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진로(초등교사)와 자료(교육통계) 연결</a:t>
            </a:r>
            <a:endParaRPr lang="en-US" sz="1050" dirty="0"/>
          </a:p>
        </p:txBody>
      </p:sp>
      <p:sp>
        <p:nvSpPr>
          <p:cNvPr id="8" name="설명 카드 1-2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9" name="설명 제목 1-2"/>
          <p:cNvSpPr txBox="1"/>
          <p:nvPr/>
        </p:nvSpPr>
        <p:spPr>
          <a:xfrm>
            <a:off x="482803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책과의 연결</a:t>
            </a:r>
            <a:endParaRPr lang="en-US" sz="1150" dirty="0"/>
          </a:p>
        </p:txBody>
      </p:sp>
      <p:sp>
        <p:nvSpPr>
          <p:cNvPr id="10" name="설명 내용 1-2"/>
          <p:cNvSpPr txBox="1"/>
          <p:nvPr/>
        </p:nvSpPr>
        <p:spPr>
          <a:xfrm>
            <a:off x="482803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엘렌버그: 숫자보다 '무엇에 대한 비율인지'(분모)를 보라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다문화 학생 수(분자)와 전체 학생 수(분모)를 둘 다 표에 넣은 이유</a:t>
            </a:r>
            <a:endParaRPr lang="en-US" sz="1050" dirty="0"/>
          </a:p>
        </p:txBody>
      </p:sp>
      <p:sp>
        <p:nvSpPr>
          <p:cNvPr id="11" name="설명 카드 1-3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2" name="설명 제목 1-3"/>
          <p:cNvSpPr txBox="1"/>
          <p:nvPr/>
        </p:nvSpPr>
        <p:spPr>
          <a:xfrm>
            <a:off x="62179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실제로 읽을 분량</a:t>
            </a:r>
            <a:endParaRPr lang="en-US" sz="1150" dirty="0"/>
          </a:p>
        </p:txBody>
      </p:sp>
      <p:sp>
        <p:nvSpPr>
          <p:cNvPr id="13" name="설명 내용 1-3"/>
          <p:cNvSpPr txBox="1"/>
          <p:nvPr/>
        </p:nvSpPr>
        <p:spPr>
          <a:xfrm>
            <a:off x="62179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비율과 백분율을 다룬 장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통계·데이터를 다룬 다른 책도 가능</a:t>
            </a:r>
            <a:endParaRPr lang="en-US" sz="1050" dirty="0"/>
          </a:p>
        </p:txBody>
      </p:sp>
      <p:sp>
        <p:nvSpPr>
          <p:cNvPr id="14" name="설명 카드 1-4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5" name="설명 제목 1-4"/>
          <p:cNvSpPr txBox="1"/>
          <p:nvPr/>
        </p:nvSpPr>
        <p:spPr>
          <a:xfrm>
            <a:off x="482803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채점 연결</a:t>
            </a:r>
            <a:endParaRPr lang="en-US" sz="1150" dirty="0"/>
          </a:p>
        </p:txBody>
      </p:sp>
      <p:sp>
        <p:nvSpPr>
          <p:cNvPr id="16" name="설명 내용 1-4"/>
          <p:cNvSpPr txBox="1"/>
          <p:nvPr/>
        </p:nvSpPr>
        <p:spPr>
          <a:xfrm>
            <a:off x="482803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1번 도서 20점: 도서명·저자 + 책을 어떻게 썼는지 핵심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책의 생각(분모)이 2장의 표 구성과 3장의 해석으로 이어진다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자료 출처와 내가 만든 표</a:t>
            </a:r>
            <a:endParaRPr lang="en-US" sz="2400" dirty="0"/>
          </a:p>
        </p:txBody>
      </p:sp>
      <p:sp>
        <p:nvSpPr>
          <p:cNvPr id="3" name="번호 2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2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5" name="출처 카드"/>
          <p:cNvSpPr/>
          <p:nvPr/>
        </p:nvSpPr>
        <p:spPr>
          <a:xfrm>
            <a:off x="457200" y="96012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출처"/>
          <p:cNvSpPr txBox="1"/>
          <p:nvPr/>
        </p:nvSpPr>
        <p:spPr>
          <a:xfrm>
            <a:off x="640080" y="100584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기관: 교육부·한국교육개발원  ·  조사 이름: 「교육기본통계」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대상: 전국 모든 유·초·중·고(매년 4월 1일 기준, 학교가 보고) → 모두 조사(전수)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얻는 길: kess.kedi.re.kr(교육통계서비스) → 교육통계연보 → '학생 수', '다문화 학생 수'  (교육부 보도자료 '교육기본통계 결과', 8월)</a:t>
            </a:r>
            <a:endParaRPr lang="en-US" sz="1100" dirty="0"/>
          </a:p>
        </p:txBody>
      </p:sp>
      <p:sp>
        <p:nvSpPr>
          <p:cNvPr id="7" name="원자료 라벨"/>
          <p:cNvSpPr txBox="1"/>
          <p:nvPr/>
        </p:nvSpPr>
        <p:spPr>
          <a:xfrm>
            <a:off x="457200" y="2084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원자료 표 (일부 발췌, 단위: 만 명)</a:t>
            </a:r>
            <a:endParaRPr lang="en-US" sz="1050" dirty="0"/>
          </a:p>
        </p:txBody>
      </p:sp>
      <p:graphicFrame>
        <p:nvGraphicFramePr>
          <p:cNvPr id="4" name="원자료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59152"/>
          <a:ext cx="4114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85216"/>
                <a:gridCol w="585216"/>
                <a:gridCol w="585216"/>
                <a:gridCol w="585216"/>
                <a:gridCol w="585216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구분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2021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2022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2023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2024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11D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전체 학생 · 초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249.5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234.5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전체 학생 · 중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133.3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137.0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전체 학생 · 고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130.4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129.9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전체 학생 · 계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532.3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527.5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520.9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513.2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501.5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다문화 · 초/중/고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…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다문화 · 계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16.0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16.9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18.1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19.4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20.2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다문화 비율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3.0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3.2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3.5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3.8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211D"/>
                          </a:solidFill>
                        </a:rPr>
                        <a:t>4.0</a:t>
                      </a:r>
                      <a:endParaRPr lang="en-US" sz="8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원자료 안내"/>
          <p:cNvSpPr txBox="1"/>
          <p:nvPr/>
        </p:nvSpPr>
        <p:spPr>
          <a:xfrm>
            <a:off x="45720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교육통계연보 '학생 수'와 '다문화 학생 수' 표에서 발췌(유치원 제외). 유형별(국제결혼·외국인 가정) 행 생략. …은 옮기지 않은 칸</a:t>
            </a:r>
            <a:endParaRPr lang="en-US" sz="900" dirty="0"/>
          </a:p>
        </p:txBody>
      </p:sp>
      <p:sp>
        <p:nvSpPr>
          <p:cNvPr id="10" name="화살표"/>
          <p:cNvSpPr txBox="1"/>
          <p:nvPr/>
        </p:nvSpPr>
        <p:spPr>
          <a:xfrm>
            <a:off x="45720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가공표 라벨"/>
          <p:cNvSpPr txBox="1"/>
          <p:nvPr/>
        </p:nvSpPr>
        <p:spPr>
          <a:xfrm>
            <a:off x="502920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내가 다시 만든 표 (단위: 만 명, %)</a:t>
            </a:r>
            <a:endParaRPr lang="en-US" sz="1050" dirty="0"/>
          </a:p>
        </p:txBody>
      </p:sp>
      <p:graphicFrame>
        <p:nvGraphicFramePr>
          <p:cNvPr id="7" name="내가 만든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359152"/>
          <a:ext cx="3657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868680"/>
                <a:gridCol w="86868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연도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전체 초·중·고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다문화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11D"/>
                          </a:solidFill>
                        </a:rPr>
                        <a:t>비율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2021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532.3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16.0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3.0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2022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527.5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16.9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3.2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2023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520.9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18.1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3.5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2024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513.2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19.4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3.8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501.5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20.2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11D"/>
                          </a:solidFill>
                        </a:rPr>
                        <a:t>4.0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가공 안내"/>
          <p:cNvSpPr txBox="1"/>
          <p:nvPr/>
        </p:nvSpPr>
        <p:spPr>
          <a:xfrm>
            <a:off x="502920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전체는 초·중·고 합계(유치원 제외), 다문화는 합계 행. 비율 = 다문화 ÷ 전체 × 100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2장 설명 · 핵심 요약</a:t>
            </a:r>
            <a:endParaRPr lang="en-US" sz="2400" dirty="0"/>
          </a:p>
        </p:txBody>
      </p:sp>
      <p:sp>
        <p:nvSpPr>
          <p:cNvPr id="3" name="설명 배지 2"/>
          <p:cNvSpPr/>
          <p:nvPr/>
        </p:nvSpPr>
        <p:spPr>
          <a:xfrm>
            <a:off x="457200" y="384048"/>
            <a:ext cx="420624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설명 배지 글자 2"/>
          <p:cNvSpPr txBox="1"/>
          <p:nvPr/>
        </p:nvSpPr>
        <p:spPr>
          <a:xfrm>
            <a:off x="457200" y="3840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설명</a:t>
            </a:r>
            <a:endParaRPr lang="en-US" sz="1000" dirty="0"/>
          </a:p>
        </p:txBody>
      </p:sp>
      <p:sp>
        <p:nvSpPr>
          <p:cNvPr id="5" name="설명 카드 2-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6" name="설명 제목 2-1"/>
          <p:cNvSpPr txBox="1"/>
          <p:nvPr/>
        </p:nvSpPr>
        <p:spPr>
          <a:xfrm>
            <a:off x="62179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실재하는 자료다</a:t>
            </a:r>
            <a:endParaRPr lang="en-US" sz="1150" dirty="0"/>
          </a:p>
        </p:txBody>
      </p:sp>
      <p:sp>
        <p:nvSpPr>
          <p:cNvPr id="7" name="설명 내용 2-1"/>
          <p:cNvSpPr txBox="1"/>
          <p:nvPr/>
        </p:nvSpPr>
        <p:spPr>
          <a:xfrm>
            <a:off x="62179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교육부·한국교육개발원이 매년 8월 발표하는 국가승인통계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학교급별·시도별·유형별(국제결혼·외국인 가정) 표가 있다</a:t>
            </a:r>
            <a:endParaRPr lang="en-US" sz="1050" dirty="0"/>
          </a:p>
        </p:txBody>
      </p:sp>
      <p:sp>
        <p:nvSpPr>
          <p:cNvPr id="8" name="설명 카드 2-2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9" name="설명 제목 2-2"/>
          <p:cNvSpPr txBox="1"/>
          <p:nvPr/>
        </p:nvSpPr>
        <p:spPr>
          <a:xfrm>
            <a:off x="482803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얻는 길 (링크)</a:t>
            </a:r>
            <a:endParaRPr lang="en-US" sz="1150" dirty="0"/>
          </a:p>
        </p:txBody>
      </p:sp>
      <p:sp>
        <p:nvSpPr>
          <p:cNvPr id="10" name="설명 내용 2-2"/>
          <p:cNvSpPr txBox="1"/>
          <p:nvPr/>
        </p:nvSpPr>
        <p:spPr>
          <a:xfrm>
            <a:off x="482803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kess.kedi.re.kr → 교육통계연보 → 학생 수, 다문화 학생 수 (엑셀 내려받기)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moe.go.kr → 보도자료 '교육기본통계 결과'(8월)에 요약 표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시도별 수치도 같은 표에 있다(광주도 찾을 수 있다)</a:t>
            </a:r>
            <a:endParaRPr lang="en-US" sz="1050" dirty="0"/>
          </a:p>
        </p:txBody>
      </p:sp>
      <p:sp>
        <p:nvSpPr>
          <p:cNvPr id="11" name="설명 카드 2-3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2" name="설명 제목 2-3"/>
          <p:cNvSpPr txBox="1"/>
          <p:nvPr/>
        </p:nvSpPr>
        <p:spPr>
          <a:xfrm>
            <a:off x="62179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원자료 → 가공</a:t>
            </a:r>
            <a:endParaRPr lang="en-US" sz="1150" dirty="0"/>
          </a:p>
        </p:txBody>
      </p:sp>
      <p:sp>
        <p:nvSpPr>
          <p:cNvPr id="13" name="설명 내용 2-3"/>
          <p:cNvSpPr txBox="1"/>
          <p:nvPr/>
        </p:nvSpPr>
        <p:spPr>
          <a:xfrm>
            <a:off x="62179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전체는 초·중·고 합계만(유치원 제외), 다문화는 합계 행만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비율 = 다문화 ÷ 전체 × 100 → 원자료의 비율(4.0%)과 같은지 확인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2025년 전체 501.5만은 초 234.5 + 중 137.0 + 고 129.9</a:t>
            </a:r>
            <a:endParaRPr lang="en-US" sz="1050" dirty="0"/>
          </a:p>
        </p:txBody>
      </p:sp>
      <p:sp>
        <p:nvSpPr>
          <p:cNvPr id="14" name="설명 카드 2-4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5" name="설명 제목 2-4"/>
          <p:cNvSpPr txBox="1"/>
          <p:nvPr/>
        </p:nvSpPr>
        <p:spPr>
          <a:xfrm>
            <a:off x="482803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채점 연결</a:t>
            </a:r>
            <a:endParaRPr lang="en-US" sz="1150" dirty="0"/>
          </a:p>
        </p:txBody>
      </p:sp>
      <p:sp>
        <p:nvSpPr>
          <p:cNvPr id="16" name="설명 내용 2-4"/>
          <p:cNvSpPr txBox="1"/>
          <p:nvPr/>
        </p:nvSpPr>
        <p:spPr>
          <a:xfrm>
            <a:off x="482803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출처(기관·조사 이름·링크)를 표현했는가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모두 조사인지 밝혔는가: '전국 모든 학교가 보고'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가공 전·후를 보였고 비율 열을 직접 계산했는가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그래프와 해석</a:t>
            </a:r>
            <a:endParaRPr lang="en-US" sz="2400" dirty="0"/>
          </a:p>
        </p:txBody>
      </p:sp>
      <p:sp>
        <p:nvSpPr>
          <p:cNvPr id="3" name="번호 3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3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graphicFrame>
        <p:nvGraphicFramePr>
          <p:cNvPr id="5" name="전체 초·중·고 학생 수 (만 명)" descr=""/>
          <p:cNvGraphicFramePr/>
          <p:nvPr/>
        </p:nvGraphicFramePr>
        <p:xfrm>
          <a:off x="457200" y="960120"/>
          <a:ext cx="26212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다문화 학생 수 (만 명)" descr=""/>
          <p:cNvGraphicFramePr/>
          <p:nvPr/>
        </p:nvGraphicFramePr>
        <p:xfrm>
          <a:off x="3261360" y="960120"/>
          <a:ext cx="26212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다문화 학생 비율 (%)" descr=""/>
          <p:cNvGraphicFramePr/>
          <p:nvPr/>
        </p:nvGraphicFramePr>
        <p:xfrm>
          <a:off x="6065520" y="960120"/>
          <a:ext cx="26212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해석 카드 1"/>
          <p:cNvSpPr/>
          <p:nvPr/>
        </p:nvSpPr>
        <p:spPr>
          <a:xfrm>
            <a:off x="45720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해석 라벨 1"/>
          <p:cNvSpPr txBox="1"/>
          <p:nvPr/>
        </p:nvSpPr>
        <p:spPr>
          <a:xfrm>
            <a:off x="603504" y="3172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① 숫자로 말하기</a:t>
            </a:r>
            <a:endParaRPr lang="en-US" sz="1000" dirty="0"/>
          </a:p>
        </p:txBody>
      </p:sp>
      <p:sp>
        <p:nvSpPr>
          <p:cNvPr id="10" name="해석 1"/>
          <p:cNvSpPr txBox="1"/>
          <p:nvPr/>
        </p:nvSpPr>
        <p:spPr>
          <a:xfrm>
            <a:off x="603504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다문화 16.0만 → 20.2만 명(+26%), 전체 532.3만 → 501.5만 명(−5.8%), 비율 3.0% → 4.0%(2021→2025). 30명 학급이면 평균 1.2명</a:t>
            </a:r>
            <a:endParaRPr lang="en-US" sz="950" dirty="0"/>
          </a:p>
        </p:txBody>
      </p:sp>
      <p:sp>
        <p:nvSpPr>
          <p:cNvPr id="11" name="해석 카드 2"/>
          <p:cNvSpPr/>
          <p:nvPr/>
        </p:nvSpPr>
        <p:spPr>
          <a:xfrm>
            <a:off x="324612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해석 라벨 2"/>
          <p:cNvSpPr txBox="1"/>
          <p:nvPr/>
        </p:nvSpPr>
        <p:spPr>
          <a:xfrm>
            <a:off x="3392424" y="3172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② 의견 또는 추측</a:t>
            </a:r>
            <a:endParaRPr lang="en-US" sz="1000" dirty="0"/>
          </a:p>
        </p:txBody>
      </p:sp>
      <p:sp>
        <p:nvSpPr>
          <p:cNvPr id="13" name="해석 2"/>
          <p:cNvSpPr txBox="1"/>
          <p:nvPr/>
        </p:nvSpPr>
        <p:spPr>
          <a:xfrm>
            <a:off x="3392424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국제결혼·외국인 가정 자녀가 취학 연령이 됐고 전체 학생은 줄어, 비율은 앞으로 더 빨리 오를 것이라고 추측한다. 분자는 늘고 분모는 준다</a:t>
            </a:r>
            <a:endParaRPr lang="en-US" sz="950" dirty="0"/>
          </a:p>
        </p:txBody>
      </p:sp>
      <p:sp>
        <p:nvSpPr>
          <p:cNvPr id="14" name="해석 카드 3"/>
          <p:cNvSpPr/>
          <p:nvPr/>
        </p:nvSpPr>
        <p:spPr>
          <a:xfrm>
            <a:off x="603504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해석 라벨 3"/>
          <p:cNvSpPr txBox="1"/>
          <p:nvPr/>
        </p:nvSpPr>
        <p:spPr>
          <a:xfrm>
            <a:off x="6181344" y="3172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③ 의견·추측의 근거</a:t>
            </a:r>
            <a:endParaRPr lang="en-US" sz="1000" dirty="0"/>
          </a:p>
        </p:txBody>
      </p:sp>
      <p:sp>
        <p:nvSpPr>
          <p:cNvPr id="16" name="해석 3"/>
          <p:cNvSpPr txBox="1"/>
          <p:nvPr/>
        </p:nvSpPr>
        <p:spPr>
          <a:xfrm>
            <a:off x="6181344" y="3438144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2024→2025만 봐도 다문화 +8,394명(+4.3%), 전체 −11.7만 명(−2.3%). 한쪽이 늘고 한쪽이 줄면 비율은 반드시 오른다(분모 효과)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3장 설명 · 핵심 요약</a:t>
            </a:r>
            <a:endParaRPr lang="en-US" sz="2400" dirty="0"/>
          </a:p>
        </p:txBody>
      </p:sp>
      <p:sp>
        <p:nvSpPr>
          <p:cNvPr id="3" name="설명 배지 3"/>
          <p:cNvSpPr/>
          <p:nvPr/>
        </p:nvSpPr>
        <p:spPr>
          <a:xfrm>
            <a:off x="457200" y="384048"/>
            <a:ext cx="420624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설명 배지 글자 3"/>
          <p:cNvSpPr txBox="1"/>
          <p:nvPr/>
        </p:nvSpPr>
        <p:spPr>
          <a:xfrm>
            <a:off x="457200" y="3840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설명</a:t>
            </a:r>
            <a:endParaRPr lang="en-US" sz="1000" dirty="0"/>
          </a:p>
        </p:txBody>
      </p:sp>
      <p:sp>
        <p:nvSpPr>
          <p:cNvPr id="5" name="설명 카드 3-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6" name="설명 제목 3-1"/>
          <p:cNvSpPr txBox="1"/>
          <p:nvPr/>
        </p:nvSpPr>
        <p:spPr>
          <a:xfrm>
            <a:off x="62179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그래프 셋을 같은 연도 축으로</a:t>
            </a:r>
            <a:endParaRPr lang="en-US" sz="1150" dirty="0"/>
          </a:p>
        </p:txBody>
      </p:sp>
      <p:sp>
        <p:nvSpPr>
          <p:cNvPr id="7" name="설명 내용 3-1"/>
          <p:cNvSpPr txBox="1"/>
          <p:nvPr/>
        </p:nvSpPr>
        <p:spPr>
          <a:xfrm>
            <a:off x="62179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전체(줄어듦), 다문화(늘어남), 비율(더 빨리 늘어남)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크기가 다른 세 값을 한 축에 겹치지 않고 따로 그렸다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세로축은 모두 0부터</a:t>
            </a:r>
            <a:endParaRPr lang="en-US" sz="1050" dirty="0"/>
          </a:p>
        </p:txBody>
      </p:sp>
      <p:sp>
        <p:nvSpPr>
          <p:cNvPr id="8" name="설명 카드 3-2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9" name="설명 제목 3-2"/>
          <p:cNvSpPr txBox="1"/>
          <p:nvPr/>
        </p:nvSpPr>
        <p:spPr>
          <a:xfrm>
            <a:off x="482803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학급 단위로 바꾸기</a:t>
            </a:r>
            <a:endParaRPr lang="en-US" sz="1150" dirty="0"/>
          </a:p>
        </p:txBody>
      </p:sp>
      <p:sp>
        <p:nvSpPr>
          <p:cNvPr id="10" name="설명 내용 3-2"/>
          <p:cNvSpPr txBox="1"/>
          <p:nvPr/>
        </p:nvSpPr>
        <p:spPr>
          <a:xfrm>
            <a:off x="482803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비율 4.0% × 30명 = 1.2명 → "한 반에 평균 한 명 이상"으로 읽는다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확률분포표 없이도 비율로 바로 계산할 수 있다</a:t>
            </a:r>
            <a:endParaRPr lang="en-US" sz="1050" dirty="0"/>
          </a:p>
        </p:txBody>
      </p:sp>
      <p:sp>
        <p:nvSpPr>
          <p:cNvPr id="11" name="설명 카드 3-3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2" name="설명 제목 3-3"/>
          <p:cNvSpPr txBox="1"/>
          <p:nvPr/>
        </p:nvSpPr>
        <p:spPr>
          <a:xfrm>
            <a:off x="62179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의견과 근거를 잇는 법</a:t>
            </a:r>
            <a:endParaRPr lang="en-US" sz="1150" dirty="0"/>
          </a:p>
        </p:txBody>
      </p:sp>
      <p:sp>
        <p:nvSpPr>
          <p:cNvPr id="13" name="설명 내용 3-3"/>
          <p:cNvSpPr txBox="1"/>
          <p:nvPr/>
        </p:nvSpPr>
        <p:spPr>
          <a:xfrm>
            <a:off x="62179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②는 추측: '비율은 앞으로 더 빨리 오른다'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③은 근거: 같은 통계의 전체 학생 수(분모) 변화, 2024→2025 증감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분모가 줄고 분자가 늘면 비율은 반드시 오른다는 계산으로 잇는다</a:t>
            </a:r>
            <a:endParaRPr lang="en-US" sz="1050" dirty="0"/>
          </a:p>
        </p:txBody>
      </p:sp>
      <p:sp>
        <p:nvSpPr>
          <p:cNvPr id="14" name="설명 카드 3-4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5" name="설명 제목 3-4"/>
          <p:cNvSpPr txBox="1"/>
          <p:nvPr/>
        </p:nvSpPr>
        <p:spPr>
          <a:xfrm>
            <a:off x="482803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채점 연결</a:t>
            </a:r>
            <a:endParaRPr lang="en-US" sz="1150" dirty="0"/>
          </a:p>
        </p:txBody>
      </p:sp>
      <p:sp>
        <p:nvSpPr>
          <p:cNvPr id="16" name="설명 내용 3-4"/>
          <p:cNvSpPr txBox="1"/>
          <p:nvPr/>
        </p:nvSpPr>
        <p:spPr>
          <a:xfrm>
            <a:off x="482803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수·전체·비율의 변화를 모두 숫자로 표현했는가(①)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가공된 자료로 추측을 했는가(②)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추측의 근거가 있는가(③, 분모의 변화)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결론</a:t>
            </a:r>
            <a:endParaRPr lang="en-US" sz="2400" dirty="0"/>
          </a:p>
        </p:txBody>
      </p:sp>
      <p:sp>
        <p:nvSpPr>
          <p:cNvPr id="3" name="번호 4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4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5" name="결론 카드 1"/>
          <p:cNvSpPr/>
          <p:nvPr/>
        </p:nvSpPr>
        <p:spPr>
          <a:xfrm>
            <a:off x="457200" y="96012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결론 라벨 1"/>
          <p:cNvSpPr txBox="1"/>
          <p:nvPr/>
        </p:nvSpPr>
        <p:spPr>
          <a:xfrm>
            <a:off x="6858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통계가 보여 준 것</a:t>
            </a:r>
            <a:endParaRPr lang="en-US" sz="1100" dirty="0"/>
          </a:p>
        </p:txBody>
      </p:sp>
      <p:sp>
        <p:nvSpPr>
          <p:cNvPr id="7" name="결론 1"/>
          <p:cNvSpPr txBox="1"/>
          <p:nvPr/>
        </p:nvSpPr>
        <p:spPr>
          <a:xfrm>
            <a:off x="685800" y="13441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전체 학생은 5년간 30.8만 명 줄고 다문화 학생은 4.2만 명 늘어, 비율이 3.0%에서 4.0%가 됐다. 30명 학급이면 평균 1.2명이다.</a:t>
            </a:r>
            <a:endParaRPr lang="en-US" sz="1300" dirty="0"/>
          </a:p>
        </p:txBody>
      </p:sp>
      <p:sp>
        <p:nvSpPr>
          <p:cNvPr id="8" name="결론 카드 2"/>
          <p:cNvSpPr/>
          <p:nvPr/>
        </p:nvSpPr>
        <p:spPr>
          <a:xfrm>
            <a:off x="457200" y="219456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결론 라벨 2"/>
          <p:cNvSpPr txBox="1"/>
          <p:nvPr/>
        </p:nvSpPr>
        <p:spPr>
          <a:xfrm>
            <a:off x="68580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통계 분석</a:t>
            </a:r>
            <a:endParaRPr lang="en-US" sz="1100" dirty="0"/>
          </a:p>
        </p:txBody>
      </p:sp>
      <p:sp>
        <p:nvSpPr>
          <p:cNvPr id="10" name="결론 2"/>
          <p:cNvSpPr txBox="1"/>
          <p:nvPr/>
        </p:nvSpPr>
        <p:spPr>
          <a:xfrm>
            <a:off x="685800" y="25786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지금 추세(다문화 해마다 약 1만 명 증가, 전체 약 7.7만 명 감소)가 이어지면 2030년에는 다문화 약 25.5만 명, 전체 약 463만 명으로 비율 5.5%, 30명 학급에 1.6명이다. 교사를 지망하는 학생은 한국어·다문화 교육을 고민하고 대비해야 한다.</a:t>
            </a:r>
            <a:endParaRPr lang="en-US" sz="1300" dirty="0"/>
          </a:p>
        </p:txBody>
      </p:sp>
      <p:sp>
        <p:nvSpPr>
          <p:cNvPr id="11" name="결론 카드 3"/>
          <p:cNvSpPr/>
          <p:nvPr/>
        </p:nvSpPr>
        <p:spPr>
          <a:xfrm>
            <a:off x="457200" y="342900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결론 라벨 3"/>
          <p:cNvSpPr txBox="1"/>
          <p:nvPr/>
        </p:nvSpPr>
        <p:spPr>
          <a:xfrm>
            <a:off x="68580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결론</a:t>
            </a:r>
            <a:endParaRPr lang="en-US" sz="1100" dirty="0"/>
          </a:p>
        </p:txBody>
      </p:sp>
      <p:sp>
        <p:nvSpPr>
          <p:cNvPr id="13" name="결론 3"/>
          <p:cNvSpPr txBox="1"/>
          <p:nvPr/>
        </p:nvSpPr>
        <p:spPr>
          <a:xfrm>
            <a:off x="685800" y="381304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나는 교육대학 진학을 희망하며, 진학하면 다문화 교육과 한국어(KSL) 교육 과목을 이수하겠다. 지금은 우리 학교의 한국어 학급이나 다문화 학생 멘토링 봉사에 참여해 교실을 미리 경험하겠다.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4장 설명 · 핵심 요약</a:t>
            </a:r>
            <a:endParaRPr lang="en-US" sz="2400" dirty="0"/>
          </a:p>
        </p:txBody>
      </p:sp>
      <p:sp>
        <p:nvSpPr>
          <p:cNvPr id="3" name="설명 배지 4"/>
          <p:cNvSpPr/>
          <p:nvPr/>
        </p:nvSpPr>
        <p:spPr>
          <a:xfrm>
            <a:off x="457200" y="384048"/>
            <a:ext cx="420624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설명 배지 글자 4"/>
          <p:cNvSpPr txBox="1"/>
          <p:nvPr/>
        </p:nvSpPr>
        <p:spPr>
          <a:xfrm>
            <a:off x="457200" y="3840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설명</a:t>
            </a:r>
            <a:endParaRPr lang="en-US" sz="1000" dirty="0"/>
          </a:p>
        </p:txBody>
      </p:sp>
      <p:sp>
        <p:nvSpPr>
          <p:cNvPr id="5" name="설명 카드 4-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6" name="설명 제목 4-1"/>
          <p:cNvSpPr txBox="1"/>
          <p:nvPr/>
        </p:nvSpPr>
        <p:spPr>
          <a:xfrm>
            <a:off x="62179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결론의 구조</a:t>
            </a:r>
            <a:endParaRPr lang="en-US" sz="1150" dirty="0"/>
          </a:p>
        </p:txBody>
      </p:sp>
      <p:sp>
        <p:nvSpPr>
          <p:cNvPr id="7" name="설명 내용 4-1"/>
          <p:cNvSpPr txBox="1"/>
          <p:nvPr/>
        </p:nvSpPr>
        <p:spPr>
          <a:xfrm>
            <a:off x="62179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통계가 보여 준 것(5년의 변화를 숫자로) → 통계 분석(전망 + 대비) → 결론(내가 할 일)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'한 반에 1.2명'처럼 학급 단위로 바꾸면 와닿는다</a:t>
            </a:r>
            <a:endParaRPr lang="en-US" sz="1050" dirty="0"/>
          </a:p>
        </p:txBody>
      </p:sp>
      <p:sp>
        <p:nvSpPr>
          <p:cNvPr id="8" name="설명 카드 4-2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9" name="설명 제목 4-2"/>
          <p:cNvSpPr txBox="1"/>
          <p:nvPr/>
        </p:nvSpPr>
        <p:spPr>
          <a:xfrm>
            <a:off x="4828032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전망의 계산</a:t>
            </a:r>
            <a:endParaRPr lang="en-US" sz="1150" dirty="0"/>
          </a:p>
        </p:txBody>
      </p:sp>
      <p:sp>
        <p:nvSpPr>
          <p:cNvPr id="10" name="설명 내용 4-2"/>
          <p:cNvSpPr txBox="1"/>
          <p:nvPr/>
        </p:nvSpPr>
        <p:spPr>
          <a:xfrm>
            <a:off x="4828032" y="13441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2021~2025 평균 변화(다문화 +1.05만/년, 전체 −7.7만/년)를 5년 더 이어 간 가정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2030년 25.5만 ÷ 463만 = 5.5% → 30명 × 0.055 = 1.6명</a:t>
            </a:r>
            <a:endParaRPr lang="en-US" sz="1050" dirty="0"/>
          </a:p>
        </p:txBody>
      </p:sp>
      <p:sp>
        <p:nvSpPr>
          <p:cNvPr id="11" name="설명 카드 4-3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2" name="설명 제목 4-3"/>
          <p:cNvSpPr txBox="1"/>
          <p:nvPr/>
        </p:nvSpPr>
        <p:spPr>
          <a:xfrm>
            <a:off x="62179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분모를 섞지 않는다</a:t>
            </a:r>
            <a:endParaRPr lang="en-US" sz="1150" dirty="0"/>
          </a:p>
        </p:txBody>
      </p:sp>
      <p:sp>
        <p:nvSpPr>
          <p:cNvPr id="13" name="설명 내용 4-3"/>
          <p:cNvSpPr txBox="1"/>
          <p:nvPr/>
        </p:nvSpPr>
        <p:spPr>
          <a:xfrm>
            <a:off x="62179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유·초·중·고 전체(555.1만)와 초·중·고(501.5만)는 다르다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비율의 분모는 초·중·고 학생 수(원자료의 4.0%와 일치)</a:t>
            </a:r>
            <a:endParaRPr lang="en-US" sz="1050" dirty="0"/>
          </a:p>
        </p:txBody>
      </p:sp>
      <p:sp>
        <p:nvSpPr>
          <p:cNvPr id="14" name="설명 카드 4-4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5DF"/>
            </a:solidFill>
            <a:prstDash val="solid"/>
          </a:ln>
        </p:spPr>
      </p:sp>
      <p:sp>
        <p:nvSpPr>
          <p:cNvPr id="15" name="설명 제목 4-4"/>
          <p:cNvSpPr txBox="1"/>
          <p:nvPr/>
        </p:nvSpPr>
        <p:spPr>
          <a:xfrm>
            <a:off x="4828032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채점 연결</a:t>
            </a:r>
            <a:endParaRPr lang="en-US" sz="1150" dirty="0"/>
          </a:p>
        </p:txBody>
      </p:sp>
      <p:sp>
        <p:nvSpPr>
          <p:cNvPr id="16" name="설명 내용 4-4"/>
          <p:cNvSpPr txBox="1"/>
          <p:nvPr/>
        </p:nvSpPr>
        <p:spPr>
          <a:xfrm>
            <a:off x="4828032" y="317296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4번 발표 20점: 출처·표·그래프·해석이 모두 나오고 결론이 자세할 때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결론이 한 문장이면 15점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통계독서탐구">
  <a:themeElements>
    <a:clrScheme name="통계독서탐구">
      <a:dk1>
        <a:srgbClr val="1B211D"/>
      </a:dk1>
      <a:lt1>
        <a:srgbClr val="FFFFFF"/>
      </a:lt1>
      <a:dk2>
        <a:srgbClr val="2F5D50"/>
      </a:dk2>
      <a:lt2>
        <a:srgbClr val="EEF3EF"/>
      </a:lt2>
      <a:accent1>
        <a:srgbClr val="2F5D50"/>
      </a:accent1>
      <a:accent2>
        <a:srgbClr val="2A78D6"/>
      </a:accent2>
      <a:accent3>
        <a:srgbClr val="6B6759"/>
      </a:accent3>
      <a:accent4>
        <a:srgbClr val="B9B4A6"/>
      </a:accent4>
      <a:accent5>
        <a:srgbClr val="E1EBE5"/>
      </a:accent5>
      <a:accent6>
        <a:srgbClr val="F3F1EA"/>
      </a:accent6>
      <a:hlink>
        <a:srgbClr val="2A78D6"/>
      </a:hlink>
      <a:folHlink>
        <a:srgbClr val="6B6759"/>
      </a:folHlink>
    </a:clrScheme>
    <a:fontScheme name="통계독서탐구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통계독서탐구 발표 예시 (초등학교 교사 지망)</dc:title>
  <dc:subject>2학년 확률과 통계 수행평가 통계독서탐구</dc:subject>
  <dc:creator>PptxGenJS</dc:creator>
  <cp:lastModifiedBy>PptxGenJS</cp:lastModifiedBy>
  <cp:revision>1</cp:revision>
  <dcterms:created xsi:type="dcterms:W3CDTF">2026-10-20T07:13:25Z</dcterms:created>
  <dcterms:modified xsi:type="dcterms:W3CDTF">2026-10-20T07:13:25Z</dcterms:modified>
</cp:coreProperties>
</file>