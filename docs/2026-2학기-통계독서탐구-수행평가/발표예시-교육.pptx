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38344d20-bb7f-3519-4911-00ffbfea2dc4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전체 초·중·고 학생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전체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532.3</c:v>
                </c:pt>
                <c:pt idx="1">
                  <c:v>527.5</c:v>
                </c:pt>
                <c:pt idx="2">
                  <c:v>520.9</c:v>
                </c:pt>
                <c:pt idx="3">
                  <c:v>513.2</c:v>
                </c:pt>
                <c:pt idx="4">
                  <c:v>501.5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다문화 학생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다문화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16.9</c:v>
                </c:pt>
                <c:pt idx="2">
                  <c:v>18.1</c:v>
                </c:pt>
                <c:pt idx="3">
                  <c:v>19.4</c:v>
                </c:pt>
                <c:pt idx="4">
                  <c:v>20.2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다문화 학생 비율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비율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3.2</c:v>
                </c:pt>
                <c:pt idx="2">
                  <c:v>3.5</c:v>
                </c:pt>
                <c:pt idx="3">
                  <c:v>3.8</c:v>
                </c:pt>
                <c:pt idx="4">
                  <c:v>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학생은 줄고 다문화 학생은 늘어 비율이 4%를 넘었다.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교사를 지망하는 학생은 한국어·다문화 교육을 고민하고 대비해야 한다.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초등학교 교사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《틀리지 않는 법》 조던 엘렌버그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'무엇에 대한 비율인지'를 보라는 조언을 따라 다문화 학생 수·전체 학생 수·비율을 함께 봤다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교육부·한국교육개발원  ·  조사 이름: 「교육기본통계」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전국 모든 유·초·중·고(매년 4월 1일 기준, 학교가 보고) → 모두 조사(전수)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얻는 길: kess.kedi.re.kr(교육통계서비스) → 교육통계연보 → '학생 수', '다문화 학생 수'  (교육부 보도자료 '교육기본통계 결과', 8월)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084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단위: 만 명)</a:t>
            </a:r>
            <a:endParaRPr lang="en-US" sz="1050" dirty="0"/>
          </a:p>
        </p:txBody>
      </p:sp>
      <p:graphicFrame>
        <p:nvGraphicFramePr>
          <p:cNvPr id="3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59152"/>
          <a:ext cx="4114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85216"/>
                <a:gridCol w="585216"/>
                <a:gridCol w="585216"/>
                <a:gridCol w="585216"/>
                <a:gridCol w="585216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초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249.5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234.5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중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133.3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137.0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130.4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129.9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532.3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527.5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520.9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513.2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501.5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· 초/중/고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· 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16.0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16.9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18.1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19.4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20.2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비율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3.8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교육통계연보 '학생 수'와 '다문화 학생 수' 표에서 발췌(유치원 제외). 유형별(국제결혼·외국인 가정) 행 생략.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만 명, %)</a:t>
            </a:r>
            <a:endParaRPr lang="en-US" sz="1050" dirty="0"/>
          </a:p>
        </p:txBody>
      </p:sp>
      <p:graphicFrame>
        <p:nvGraphicFramePr>
          <p:cNvPr id="5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59152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86868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전체 초·중·고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다문화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비율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532.3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16.0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527.5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16.9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520.9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18.1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513.2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19.4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3.8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501.5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전체는 초·중·고 합계(유치원 제외), 다문화는 합계 행. 비율 = 다문화 ÷ 전체 × 100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전체 초·중·고 학생 수 (만 명)" descr=""/>
          <p:cNvGraphicFramePr/>
          <p:nvPr/>
        </p:nvGraphicFramePr>
        <p:xfrm>
          <a:off x="457200" y="960120"/>
          <a:ext cx="2621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다문화 학생 수 (만 명)" descr=""/>
          <p:cNvGraphicFramePr/>
          <p:nvPr/>
        </p:nvGraphicFramePr>
        <p:xfrm>
          <a:off x="3261360" y="960120"/>
          <a:ext cx="2621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다문화 학생 비율 (%)" descr=""/>
          <p:cNvGraphicFramePr/>
          <p:nvPr/>
        </p:nvGraphicFramePr>
        <p:xfrm>
          <a:off x="6065520" y="960120"/>
          <a:ext cx="2621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10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다문화 16.0만 → 20.2만 명(+26%), 전체 532.3만 → 501.5만 명(−5.8%), 비율 3.0% → 4.0%(2021→2025). 30명 학급이면 평균 1.2명</a:t>
            </a:r>
            <a:endParaRPr lang="en-US" sz="950" dirty="0"/>
          </a:p>
        </p:txBody>
      </p:sp>
      <p:sp>
        <p:nvSpPr>
          <p:cNvPr id="11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의견 또는 추측</a:t>
            </a:r>
            <a:endParaRPr lang="en-US" sz="1000" dirty="0"/>
          </a:p>
        </p:txBody>
      </p:sp>
      <p:sp>
        <p:nvSpPr>
          <p:cNvPr id="13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국제결혼·외국인 가정 자녀가 취학 연령이 됐고 전체 학생은 줄어, 비율은 앞으로 더 빨리 오를 것이라고 추측한다. 분자는 늘고 분모는 준다</a:t>
            </a:r>
            <a:endParaRPr lang="en-US" sz="950" dirty="0"/>
          </a:p>
        </p:txBody>
      </p:sp>
      <p:sp>
        <p:nvSpPr>
          <p:cNvPr id="14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의견·추측의 근거</a:t>
            </a:r>
            <a:endParaRPr lang="en-US" sz="1000" dirty="0"/>
          </a:p>
        </p:txBody>
      </p:sp>
      <p:sp>
        <p:nvSpPr>
          <p:cNvPr id="16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2024→2025만 봐도 다문화 +8,394명(+4.3%), 전체 −11.7만 명(−2.3%). 한쪽이 늘고 한쪽이 줄면 비율은 반드시 오른다(분모 효과)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전체 학생은 5년간 30.8만 명 줄고 다문화 학생은 4.2만 명 늘어, 비율이 3.0%에서 4.0%가 됐다. 25명 학급이면 평균 1명이다.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다문화 학생 대부분은 우리나라에서 나고 자란 학생이다. 교사에게 필요한 것은 특별한 보충 수업보다 서로 다른 가정 배경을 이해하고 편견 없이 대하는 태도, 그리고 부모와 소통하는 방법이다.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다문화 학생이 한 반에 한 명 이상 있는 교실이 보통이 되는 만큼, 교사를 지망하는 학생은 다문화 학생을 어떻게 이해하고 가르칠지 여러 생각과 고민을 미리 하고 있어야 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(초등학교 교사 지망)</dc:title>
  <dc:subject>2학년 확률과 통계 수행평가 통계독서탐구</dc:subject>
  <dc:creator>PptxGenJS</dc:creator>
  <cp:lastModifiedBy>PptxGenJS</cp:lastModifiedBy>
  <cp:revision>1</cp:revision>
  <dcterms:created xsi:type="dcterms:W3CDTF">2026-10-26T00:35:16Z</dcterms:created>
  <dcterms:modified xsi:type="dcterms:W3CDTF">2026-10-26T00:35:16Z</dcterms:modified>
</cp:coreProperties>
</file>