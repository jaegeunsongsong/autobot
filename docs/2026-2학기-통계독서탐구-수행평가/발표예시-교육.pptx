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a7cd4960-7d4f-14f9-30dd-f10498aac4e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전체 초·중·고 학생 수 (만 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전체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532.3</c:v>
                </c:pt>
                <c:pt idx="1">
                  <c:v>527.5</c:v>
                </c:pt>
                <c:pt idx="2">
                  <c:v>520.9</c:v>
                </c:pt>
                <c:pt idx="3">
                  <c:v>513.2</c:v>
                </c:pt>
                <c:pt idx="4">
                  <c:v>501.5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다문화 학생 수 (만 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다문화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</c:v>
                </c:pt>
                <c:pt idx="1">
                  <c:v>16.9</c:v>
                </c:pt>
                <c:pt idx="2">
                  <c:v>18.1</c:v>
                </c:pt>
                <c:pt idx="3">
                  <c:v>19.4</c:v>
                </c:pt>
                <c:pt idx="4">
                  <c:v>20.2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다문화 학생 비율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비율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3.2</c:v>
                </c:pt>
                <c:pt idx="2">
                  <c:v>3.5</c:v>
                </c:pt>
                <c:pt idx="3">
                  <c:v>3.8</c:v>
                </c:pt>
                <c:pt idx="4">
                  <c:v>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학생은 줄고 다문화 학생은 늘어 비율이 4%를 넘었다.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교사가 되려면 한국어·다문화 교육을 지금부터 준비해야 한다.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초등학교 교사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《틀리지 않는 법》 조던 엘렌버그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숫자보다 '무엇에 대한 비율인지'를 보라는 말을 따라 다문화 학생 수·전체 학생 수·비율을 함께 봤다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1장 설명 · 핵심 요약</a:t>
            </a:r>
            <a:endParaRPr lang="en-US" sz="2400" dirty="0"/>
          </a:p>
        </p:txBody>
      </p:sp>
      <p:sp>
        <p:nvSpPr>
          <p:cNvPr id="3" name="설명 배지 1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1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1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1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이 장이 보여 주는 것</a:t>
            </a:r>
            <a:endParaRPr lang="en-US" sz="1150" dirty="0"/>
          </a:p>
        </p:txBody>
      </p:sp>
      <p:sp>
        <p:nvSpPr>
          <p:cNvPr id="7" name="설명 내용 1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 한 문장과 참고 도서 한 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'수가 는다'와 '비율이 는다'를 함께 말하는 주장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진로(초등교사)와 자료(교육통계) 연결</a:t>
            </a:r>
            <a:endParaRPr lang="en-US" sz="1050" dirty="0"/>
          </a:p>
        </p:txBody>
      </p:sp>
      <p:sp>
        <p:nvSpPr>
          <p:cNvPr id="8" name="설명 카드 1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1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책과의 연결</a:t>
            </a:r>
            <a:endParaRPr lang="en-US" sz="1150" dirty="0"/>
          </a:p>
        </p:txBody>
      </p:sp>
      <p:sp>
        <p:nvSpPr>
          <p:cNvPr id="10" name="설명 내용 1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엘렌버그: 숫자보다 '무엇에 대한 비율인지'(분모)를 보라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다문화 학생 수(분자)와 전체 학생 수(분모)를 둘 다 표에 넣은 이유</a:t>
            </a:r>
            <a:endParaRPr lang="en-US" sz="1050" dirty="0"/>
          </a:p>
        </p:txBody>
      </p:sp>
      <p:sp>
        <p:nvSpPr>
          <p:cNvPr id="11" name="설명 카드 1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1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실제로 읽을 분량</a:t>
            </a:r>
            <a:endParaRPr lang="en-US" sz="1150" dirty="0"/>
          </a:p>
        </p:txBody>
      </p:sp>
      <p:sp>
        <p:nvSpPr>
          <p:cNvPr id="13" name="설명 내용 1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비율과 백분율을 다룬 장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통계·데이터를 다룬 다른 책도 가능</a:t>
            </a:r>
            <a:endParaRPr lang="en-US" sz="1050" dirty="0"/>
          </a:p>
        </p:txBody>
      </p:sp>
      <p:sp>
        <p:nvSpPr>
          <p:cNvPr id="14" name="설명 카드 1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1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1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1번 도서 20점: 도서명·저자 + 이어지는 내용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책의 생각(분모)이 2장의 표 구성과 3장의 해석으로 이어진다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2412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기관: 교육부·한국교육개발원  ·  조사 이름: 「교육기본통계」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대상: 전국 모든 유·초·중·고(매년 4월 1일 기준, 학교가 보고)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조사 방식: 모두 조사(전수). 일부 학교를 뽑은 것이 아니다</a:t>
            </a:r>
            <a:endParaRPr lang="en-US" sz="11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1901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원자료 표 (일부 발췌, 단위: 만 명)</a:t>
            </a:r>
            <a:endParaRPr lang="en-US" sz="1050" dirty="0"/>
          </a:p>
        </p:txBody>
      </p:sp>
      <p:graphicFrame>
        <p:nvGraphicFramePr>
          <p:cNvPr id="4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76272"/>
          <a:ext cx="4114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85216"/>
                <a:gridCol w="585216"/>
                <a:gridCol w="585216"/>
                <a:gridCol w="585216"/>
                <a:gridCol w="585216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초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249.5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234.5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중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133.3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137.0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130.4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129.9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532.3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527.5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520.9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513.2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501.5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다문화 · 초/중/고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다문화 · 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16.0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16.9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18.1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19.4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20.2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다문화 비율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3.8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안내"/>
          <p:cNvSpPr txBox="1"/>
          <p:nvPr/>
        </p:nvSpPr>
        <p:spPr>
          <a:xfrm>
            <a:off x="457200" y="3977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교육통계연보 '학생 수'와 '다문화 학생 수' 표에서 발췌(유치원 제외). 유형별(국제결혼·외국인 가정) 행 생략. …은 옮기지 않은 칸</a:t>
            </a:r>
            <a:endParaRPr lang="en-US" sz="9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1901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내가 다시 만든 표 (단위: 만 명, %)</a:t>
            </a:r>
            <a:endParaRPr lang="en-US" sz="1050" dirty="0"/>
          </a:p>
        </p:txBody>
      </p:sp>
      <p:graphicFrame>
        <p:nvGraphicFramePr>
          <p:cNvPr id="7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176272"/>
          <a:ext cx="3657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86868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전체 초·중·고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다문화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비율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532.3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16.0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527.5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16.9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520.9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18.1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513.2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19.4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3.8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501.5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703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전체는 초·중·고 합계(유치원 제외), 다문화는 합계 행. 비율 = 다문화 ÷ 전체 × 100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2장 설명 · 핵심 요약</a:t>
            </a:r>
            <a:endParaRPr lang="en-US" sz="2400" dirty="0"/>
          </a:p>
        </p:txBody>
      </p:sp>
      <p:sp>
        <p:nvSpPr>
          <p:cNvPr id="3" name="설명 배지 2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2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2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2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실재하는 자료다</a:t>
            </a:r>
            <a:endParaRPr lang="en-US" sz="1150" dirty="0"/>
          </a:p>
        </p:txBody>
      </p:sp>
      <p:sp>
        <p:nvSpPr>
          <p:cNvPr id="7" name="설명 내용 2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교육부·한국교육개발원이 매년 8월 발표하는 국가승인통계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학교급별·시도별·유형별(국제결혼·외국인 가정) 표가 있다</a:t>
            </a:r>
            <a:endParaRPr lang="en-US" sz="1050" dirty="0"/>
          </a:p>
        </p:txBody>
      </p:sp>
      <p:sp>
        <p:nvSpPr>
          <p:cNvPr id="8" name="설명 카드 2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2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얻는 길</a:t>
            </a:r>
            <a:endParaRPr lang="en-US" sz="1150" dirty="0"/>
          </a:p>
        </p:txBody>
      </p:sp>
      <p:sp>
        <p:nvSpPr>
          <p:cNvPr id="10" name="설명 내용 2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교육통계서비스 kess.kedi.re.kr → 교육통계연보 → 학생 수, 다문화 학생 수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교육부 보도자료 '교육기본통계 결과'(8월)에 요약 표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시도별 수치도 같은 표에 있다(광주도 찾을 수 있다)</a:t>
            </a:r>
            <a:endParaRPr lang="en-US" sz="1050" dirty="0"/>
          </a:p>
        </p:txBody>
      </p:sp>
      <p:sp>
        <p:nvSpPr>
          <p:cNvPr id="11" name="설명 카드 2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2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원자료 → 가공</a:t>
            </a:r>
            <a:endParaRPr lang="en-US" sz="1150" dirty="0"/>
          </a:p>
        </p:txBody>
      </p:sp>
      <p:sp>
        <p:nvSpPr>
          <p:cNvPr id="13" name="설명 내용 2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전체는 초·중·고 합계만(유치원 제외), 다문화는 합계 행만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 = 다문화 ÷ 전체 × 100 → 원자료의 비율(4.0%)과 같은지 확인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2025년 전체 501.5만은 초 234.5 + 중 137.0 + 고 129.9</a:t>
            </a:r>
            <a:endParaRPr lang="en-US" sz="1050" dirty="0"/>
          </a:p>
        </p:txBody>
      </p:sp>
      <p:sp>
        <p:nvSpPr>
          <p:cNvPr id="14" name="설명 카드 2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2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2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2-① 기관·조사 이름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2-② 전수의 근거: '전국 모든 학교가 보고'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2-③ 필요한 행만 고르고 비율 열을 직접 계산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전체 초·중·고 학생 수 (만 명)" descr=""/>
          <p:cNvGraphicFramePr/>
          <p:nvPr/>
        </p:nvGraphicFramePr>
        <p:xfrm>
          <a:off x="457200" y="960120"/>
          <a:ext cx="262128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다문화 학생 수 (만 명)" descr=""/>
          <p:cNvGraphicFramePr/>
          <p:nvPr/>
        </p:nvGraphicFramePr>
        <p:xfrm>
          <a:off x="3261360" y="960120"/>
          <a:ext cx="262128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다문화 학생 비율 (%)" descr=""/>
          <p:cNvGraphicFramePr/>
          <p:nvPr/>
        </p:nvGraphicFramePr>
        <p:xfrm>
          <a:off x="6065520" y="960120"/>
          <a:ext cx="262128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확률분포표 안내"/>
          <p:cNvSpPr txBox="1"/>
          <p:nvPr/>
        </p:nvSpPr>
        <p:spPr>
          <a:xfrm>
            <a:off x="457200" y="2743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확률분포표 · 2025년 초·중등 학생 한 명을 뽑아 X = 다문화 학생이면 1, 아니면 0</a:t>
            </a:r>
            <a:endParaRPr lang="en-US" sz="950" dirty="0"/>
          </a:p>
        </p:txBody>
      </p:sp>
      <p:graphicFrame>
        <p:nvGraphicFramePr>
          <p:cNvPr id="6" name="확률분포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90088"/>
          <a:ext cx="45720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1463040"/>
                <a:gridCol w="91440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X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0 (다문화 아님)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1 (다문화 학생)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합계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P(X = x)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0.960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0.040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기댓값"/>
          <p:cNvSpPr txBox="1"/>
          <p:nvPr/>
        </p:nvSpPr>
        <p:spPr>
          <a:xfrm>
            <a:off x="5212080" y="3017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30명 학급이면 기댓값 30 × 0.040 = 1.2명. 한 반에 평균 한 명이 넘는다</a:t>
            </a:r>
            <a:endParaRPr lang="en-US" sz="950" dirty="0"/>
          </a:p>
        </p:txBody>
      </p:sp>
      <p:sp>
        <p:nvSpPr>
          <p:cNvPr id="11" name="해석 카드 1"/>
          <p:cNvSpPr/>
          <p:nvPr/>
        </p:nvSpPr>
        <p:spPr>
          <a:xfrm>
            <a:off x="457200" y="3611880"/>
            <a:ext cx="26517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해석 라벨 1"/>
          <p:cNvSpPr txBox="1"/>
          <p:nvPr/>
        </p:nvSpPr>
        <p:spPr>
          <a:xfrm>
            <a:off x="603504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숫자로 말하기</a:t>
            </a:r>
            <a:endParaRPr lang="en-US" sz="1000" dirty="0"/>
          </a:p>
        </p:txBody>
      </p:sp>
      <p:sp>
        <p:nvSpPr>
          <p:cNvPr id="13" name="해석 1"/>
          <p:cNvSpPr txBox="1"/>
          <p:nvPr/>
        </p:nvSpPr>
        <p:spPr>
          <a:xfrm>
            <a:off x="603504" y="3941064"/>
            <a:ext cx="23774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다문화 16.0만 → 20.2만 명(+26%), 전체 532.3만 → 501.5만 명(−5.8%), 비율 3.0% → 4.0%(2021→2025)</a:t>
            </a:r>
            <a:endParaRPr lang="en-US" sz="950" dirty="0"/>
          </a:p>
        </p:txBody>
      </p:sp>
      <p:sp>
        <p:nvSpPr>
          <p:cNvPr id="14" name="해석 카드 2"/>
          <p:cNvSpPr/>
          <p:nvPr/>
        </p:nvSpPr>
        <p:spPr>
          <a:xfrm>
            <a:off x="3246120" y="3611880"/>
            <a:ext cx="26517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해석 라벨 2"/>
          <p:cNvSpPr txBox="1"/>
          <p:nvPr/>
        </p:nvSpPr>
        <p:spPr>
          <a:xfrm>
            <a:off x="3392424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② 왜 그렇게 되었을까, 내 의견</a:t>
            </a:r>
            <a:endParaRPr lang="en-US" sz="1000" dirty="0"/>
          </a:p>
        </p:txBody>
      </p:sp>
      <p:sp>
        <p:nvSpPr>
          <p:cNvPr id="16" name="해석 2"/>
          <p:cNvSpPr txBox="1"/>
          <p:nvPr/>
        </p:nvSpPr>
        <p:spPr>
          <a:xfrm>
            <a:off x="3392424" y="3941064"/>
            <a:ext cx="23774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국제결혼·외국인 가정 자녀가 취학 연령이 됐고, 출생아 감소로 전체 학생은 줄어 분자는 늘고 분모는 준다</a:t>
            </a:r>
            <a:endParaRPr lang="en-US" sz="950" dirty="0"/>
          </a:p>
        </p:txBody>
      </p:sp>
      <p:sp>
        <p:nvSpPr>
          <p:cNvPr id="17" name="해석 카드 3"/>
          <p:cNvSpPr/>
          <p:nvPr/>
        </p:nvSpPr>
        <p:spPr>
          <a:xfrm>
            <a:off x="6035040" y="3611880"/>
            <a:ext cx="26517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해석 라벨 3"/>
          <p:cNvSpPr txBox="1"/>
          <p:nvPr/>
        </p:nvSpPr>
        <p:spPr>
          <a:xfrm>
            <a:off x="6181344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③ 내 의견의 근거</a:t>
            </a:r>
            <a:endParaRPr lang="en-US" sz="1000" dirty="0"/>
          </a:p>
        </p:txBody>
      </p:sp>
      <p:sp>
        <p:nvSpPr>
          <p:cNvPr id="19" name="해석 3"/>
          <p:cNvSpPr txBox="1"/>
          <p:nvPr/>
        </p:nvSpPr>
        <p:spPr>
          <a:xfrm>
            <a:off x="6181344" y="3941064"/>
            <a:ext cx="23774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2024→2025만 봐도 다문화 +8,394명(+4.3%), 전체 −11.7만 명(−2.3%). 한쪽이 늘고 한쪽이 줄면 비율은 반드시 오른다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3장 설명 · 핵심 요약</a:t>
            </a:r>
            <a:endParaRPr lang="en-US" sz="2400" dirty="0"/>
          </a:p>
        </p:txBody>
      </p:sp>
      <p:sp>
        <p:nvSpPr>
          <p:cNvPr id="3" name="설명 배지 3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3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3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3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그래프 셋을 같은 연도 축으로</a:t>
            </a:r>
            <a:endParaRPr lang="en-US" sz="1150" dirty="0"/>
          </a:p>
        </p:txBody>
      </p:sp>
      <p:sp>
        <p:nvSpPr>
          <p:cNvPr id="7" name="설명 내용 3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전체(줄어듦), 다문화(늘어남), 비율(더 빨리 늘어남)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크기가 다른 세 값을 한 축에 겹치지 않고 따로 그렸다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세로축은 모두 0부터</a:t>
            </a:r>
            <a:endParaRPr lang="en-US" sz="1050" dirty="0"/>
          </a:p>
        </p:txBody>
      </p:sp>
      <p:sp>
        <p:nvSpPr>
          <p:cNvPr id="8" name="설명 카드 3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3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확률분포표</a:t>
            </a:r>
            <a:endParaRPr lang="en-US" sz="1150" dirty="0"/>
          </a:p>
        </p:txBody>
      </p:sp>
      <p:sp>
        <p:nvSpPr>
          <p:cNvPr id="10" name="설명 내용 3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 4.0% → 한 명을 뽑을 때 다문화 학생일 확률 0.040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30명 학급의 기댓값 1.2명 → '한 반에 평균 한 명 이상'으로 읽는다</a:t>
            </a:r>
            <a:endParaRPr lang="en-US" sz="1050" dirty="0"/>
          </a:p>
        </p:txBody>
      </p:sp>
      <p:sp>
        <p:nvSpPr>
          <p:cNvPr id="11" name="설명 카드 3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3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근거는 같은 통계 안에서</a:t>
            </a:r>
            <a:endParaRPr lang="en-US" sz="1150" dirty="0"/>
          </a:p>
        </p:txBody>
      </p:sp>
      <p:sp>
        <p:nvSpPr>
          <p:cNvPr id="13" name="설명 내용 3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전체 학생 수(분모)의 변화를 같은 통계에서 가져왔다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2024→2025: 다문화 +4.3%, 전체 −2.3%</a:t>
            </a:r>
            <a:endParaRPr lang="en-US" sz="1050" dirty="0"/>
          </a:p>
        </p:txBody>
      </p:sp>
      <p:sp>
        <p:nvSpPr>
          <p:cNvPr id="14" name="설명 카드 3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3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3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2-④ 그래프와 확률분포표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3-① 수·전체·비율의 변화를 모두 숫자로  3-② 의견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3-③ 분모의 변화를 근거로(엘렌버그)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전체 학생은 5년간 30.8만 명 줄고 다문화 학생은 4.2만 명 늘어, 비율이 3.0%에서 4.0%가 됐다. 30명 학급이면 평균 1.2명이다.</a:t>
            </a:r>
            <a:endParaRPr lang="en-US" sz="13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지금 추세(다문화 해마다 약 1만 명 증가, 전체 약 7.7만 명 감소)가 이어지면 2030년에는 다문화 약 25.5만 명, 전체 약 463만 명으로 비율 5.5%, 30명 학급에 1.6명이다. 교사가 되려면 한국어 교육과 다문화 교육 역량을 지금부터 준비해야 한다.</a:t>
            </a:r>
            <a:endParaRPr lang="en-US" sz="13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제안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교대에 가면 다문화 교육·한국어(KSL) 교육 과목을 이수한다. 지금은 우리 학교의 한국어 학급이나 다문화 학생 멘토링 봉사에 참여해 교실을 미리 경험한다.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4장 설명 · 핵심 요약</a:t>
            </a:r>
            <a:endParaRPr lang="en-US" sz="2400" dirty="0"/>
          </a:p>
        </p:txBody>
      </p:sp>
      <p:sp>
        <p:nvSpPr>
          <p:cNvPr id="3" name="설명 배지 4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4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4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4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결론의 구조</a:t>
            </a:r>
            <a:endParaRPr lang="en-US" sz="1150" dirty="0"/>
          </a:p>
        </p:txBody>
      </p:sp>
      <p:sp>
        <p:nvSpPr>
          <p:cNvPr id="7" name="설명 내용 4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보여 준 것(5년의 변화를 숫자로) → 주장(전망 + 준비) → 제안(내가 할 일)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'한 반에 1.2명'처럼 학급 단위로 바꾸면 와닿는다</a:t>
            </a:r>
            <a:endParaRPr lang="en-US" sz="1050" dirty="0"/>
          </a:p>
        </p:txBody>
      </p:sp>
      <p:sp>
        <p:nvSpPr>
          <p:cNvPr id="8" name="설명 카드 4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4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전망의 계산</a:t>
            </a:r>
            <a:endParaRPr lang="en-US" sz="1150" dirty="0"/>
          </a:p>
        </p:txBody>
      </p:sp>
      <p:sp>
        <p:nvSpPr>
          <p:cNvPr id="10" name="설명 내용 4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2021~2025 평균 변화(다문화 +1.05만/년, 전체 −7.7만/년)를 5년 더 이어 간 가정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2030년 25.5만 ÷ 463만 = 5.5% → 30명 × 0.055 = 1.6명</a:t>
            </a:r>
            <a:endParaRPr lang="en-US" sz="1050" dirty="0"/>
          </a:p>
        </p:txBody>
      </p:sp>
      <p:sp>
        <p:nvSpPr>
          <p:cNvPr id="11" name="설명 카드 4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4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분모를 섞지 않는다</a:t>
            </a:r>
            <a:endParaRPr lang="en-US" sz="1150" dirty="0"/>
          </a:p>
        </p:txBody>
      </p:sp>
      <p:sp>
        <p:nvSpPr>
          <p:cNvPr id="13" name="설명 내용 4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유·초·중·고 전체(555.1만)와 초·중·고(501.5만)는 다르다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비율의 분모는 초·중·고 학생 수(원자료의 4.0%와 일치)</a:t>
            </a:r>
            <a:endParaRPr lang="en-US" sz="1050" dirty="0"/>
          </a:p>
        </p:txBody>
      </p:sp>
      <p:sp>
        <p:nvSpPr>
          <p:cNvPr id="14" name="설명 카드 4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4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4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4번 발표 20점: 출처·표·그래프·해석이 모두 나오고 결론이 자세할 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결론이 한 문장이면 15점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(초등학교 교사 지망)</dc:title>
  <dc:subject>2학년 확률과 통계 수행평가 통계독서탐구</dc:subject>
  <dc:creator>PptxGenJS</dc:creator>
  <cp:lastModifiedBy>PptxGenJS</cp:lastModifiedBy>
  <cp:revision>1</cp:revision>
  <dcterms:created xsi:type="dcterms:W3CDTF">2026-10-20T02:53:15Z</dcterms:created>
  <dcterms:modified xsi:type="dcterms:W3CDTF">2026-10-20T02:53:15Z</dcterms:modified>
</cp:coreProperties>
</file>