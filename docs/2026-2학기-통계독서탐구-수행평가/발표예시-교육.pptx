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발표" id="{4e9c90b0-8e17-965e-ac3c-ce4c33aaa01d}">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11D"/>
                </a:solidFill>
                <a:latin typeface="+mn-lt"/>
              </a:defRPr>
            </a:pPr>
            <a:r>
              <a:rPr sz="1200" b="0" i="0" u="none" strike="noStrike">
                <a:solidFill>
                  <a:srgbClr val="1B211D"/>
                </a:solidFill>
                <a:latin typeface="+mn-lt"/>
              </a:rPr>
              <a:t>초·중·고 다문화 학생 수 (단위: 만 명)</a:t>
            </a:r>
          </a:p>
        </c:rich>
      </c:tx>
      <c:layout/>
      <c:overlay val="0"/>
    </c:title>
    <c:autoTitleDeleted val="0"/>
    <c:plotArea>
      <c:layout/>
      <c:lineChart>
        <c:varyColors val="0"/>
        <c:ser>
          <c:idx val="0"/>
          <c:order val="0"/>
          <c:tx>
            <c:strRef>
              <c:f>Sheet1!$B$1</c:f>
              <c:strCache>
                <c:ptCount val="1"/>
                <c:pt idx="0">
                  <c:v>다문화 학생 수</c:v>
                </c:pt>
              </c:strCache>
            </c:strRef>
          </c:tx>
          <c:spPr>
            <a:solidFill>
              <a:srgbClr val="2A78D6"/>
            </a:solidFill>
            <a:ln w="25400" cap="flat">
              <a:solidFill>
                <a:srgbClr val="2A78D6"/>
              </a:solidFill>
              <a:prstDash val="solid"/>
              <a:round/>
            </a:ln>
            <a:effectLst/>
          </c:spPr>
          <c:invertIfNegative val="0"/>
          <c:dLbls>
            <c:numFmt formatCode="0.0" sourceLinked="0"/>
            <c:txPr>
              <a:bodyPr/>
              <a:lstStyle/>
              <a:p>
                <a:pPr>
                  <a:defRPr b="0" i="0" strike="noStrike" sz="950" u="none">
                    <a:solidFill>
                      <a:srgbClr val="1B211D"/>
                    </a:solidFill>
                    <a:latin typeface="+mn-lt"/>
                  </a:defRPr>
                </a:pPr>
              </a:p>
            </c:txPr>
            <c:dLblPos val="t"/>
            <c:showLegendKey val="0"/>
            <c:showVal val="1"/>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16</c:v>
                </c:pt>
                <c:pt idx="1">
                  <c:v>16.9</c:v>
                </c:pt>
                <c:pt idx="2">
                  <c:v>18.1</c:v>
                </c:pt>
                <c:pt idx="3">
                  <c:v>19.4</c:v>
                </c:pt>
                <c:pt idx="4">
                  <c:v>20.2</c:v>
                </c:pt>
              </c:numCache>
            </c:numRef>
          </c:val>
          <c:smooth val="0"/>
        </c:ser>
        <c:dLbls>
          <c:numFmt formatCode="0.0" sourceLinked="0"/>
          <c:txPr>
            <a:bodyPr/>
            <a:lstStyle/>
            <a:p>
              <a:pPr>
                <a:defRPr b="0" i="0" strike="noStrike" sz="950" u="none">
                  <a:solidFill>
                    <a:srgbClr val="1B211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안녕하세요, 2학년 ○반 ○번 ○○○입니다. 제 주장은 '학생 수는 줄어도 다문화 학생은 해마다 늘어나니 교사가 되려면 한국어 교육과 다문화 교육을 지금부터 준비해야 한다'입니다. 참고한 책은 조던 엘렌버그의 《틀리지 않는 법》입니다. 숫자보다 '무엇에 대한 비율인지'를 보라는 말을 따라 수와 비율을 나눠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자료는 교육부와 한국교육개발원의 교육기본통계입니다. 매년 4월 1일 기준으로 전국 모든 학교가 보고한 것을 모은 통계라 모두를 조사한 전수 자료입니다. 교육통계서비스에서 초·중·고 다문화 학생 수만 골라 2021년부터 2025년까지 만 명 단위로 표를 만들었습니다. 화면은 교육통계서비스의 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선은 해마다 올라갑니다. 2021년 16.0만 명에서 2025년 20.2만 명으로 4.2만 명, 약 26% 늘었고, 2025년에 처음 20만 명을 넘어 전체 초·중등 학생의 4.0%가 됐습니다. 확률로 바꾸면 한 명을 뽑을 때 다문화 학생일 확률이 0.04이므로 30명 학급이면 평균 1.2명입니다. 이유는 국제결혼 가정과 외국인 가정의 자녀가 학교에 들어갈 나이가 됐기 때문이라고 봅니다. 같은 통계에서 전체 학생 수는 2024년 568.5만 명에서 2025년 555.1만 명으로 2.3% 줄었는데 다문화 학생은 4.3% 늘었으니 비율은 더 빨리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정리하면, 전체 학생은 줄고 다문화 학생은 늘어 한 반에 평균 한 명이 넘습니다. 그래서 교사가 되려면 한국어 교육과 다문화 교육 역량을 지금부터 준비해야 한다고 주장합니다. 광주의 비율은 전국과 다른지 더 찾아보고 싶습니다. 이상입니다.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60120" y="274320"/>
            <a:ext cx="7726680" cy="54864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r>
              <a:rPr lang="en-US" sz="2400" b="1" dirty="0">
                <a:solidFill>
                  <a:schemeClr val="tx2"/>
                </a:solidFill>
              </a:rPr>
              <a:t>제목</a:t>
            </a:r>
            <a:endParaRPr lang="en-US" sz="2400" dirty="0"/>
          </a:p>
        </p:txBody>
      </p:sp>
      <p:sp>
        <p:nvSpPr>
          <p:cNvPr id="3" name="Text 0"/>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3"/>
                </a:solidFill>
              </a:rPr>
              <a:t>통계독서탐구 · 2학년 확률과 통계 수행평가 · 2분 발표</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60120" y="274320"/>
            <a:ext cx="7726680" cy="548640"/>
          </a:xfrm>
          <a:prstGeom prst="rect">
            <a:avLst/>
          </a:prstGeom>
          <a:noFill/>
          <a:ln/>
        </p:spPr>
        <p:txBody>
          <a:bodyPr wrap="square" lIns="0" tIns="0" rIns="0" bIns="0" rtlCol="0" anchor="ctr"/>
          <a:lstStyle/>
          <a:p>
            <a:pPr algn="l" indent="0" marL="0">
              <a:buNone/>
            </a:pPr>
            <a:r>
              <a:rPr lang="en-US" sz="2400" b="1" dirty="0">
                <a:solidFill>
                  <a:schemeClr val="tx2"/>
                </a:solidFill>
              </a:rPr>
              <a:t>나의 주장과 참고 도서</a:t>
            </a:r>
            <a:endParaRPr lang="en-US" sz="2400" dirty="0"/>
          </a:p>
        </p:txBody>
      </p:sp>
      <p:sp>
        <p:nvSpPr>
          <p:cNvPr id="3" name="번호 1"/>
          <p:cNvSpPr/>
          <p:nvPr/>
        </p:nvSpPr>
        <p:spPr>
          <a:xfrm>
            <a:off x="457200" y="356616"/>
            <a:ext cx="384048" cy="384048"/>
          </a:xfrm>
          <a:prstGeom prst="ellipse">
            <a:avLst/>
          </a:prstGeom>
          <a:solidFill>
            <a:schemeClr val="accent1"/>
          </a:solidFill>
          <a:ln w="12700">
            <a:solidFill>
              <a:schemeClr val="accent1"/>
            </a:solidFill>
            <a:prstDash val="solid"/>
          </a:ln>
        </p:spPr>
      </p:sp>
      <p:sp>
        <p:nvSpPr>
          <p:cNvPr id="4" name="번호 글자 1"/>
          <p:cNvSpPr txBox="1"/>
          <p:nvPr/>
        </p:nvSpPr>
        <p:spPr>
          <a:xfrm>
            <a:off x="457200" y="35661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주장"/>
          <p:cNvSpPr txBox="1"/>
          <p:nvPr/>
        </p:nvSpPr>
        <p:spPr>
          <a:xfrm>
            <a:off x="457200" y="1005840"/>
            <a:ext cx="8229600" cy="1371600"/>
          </a:xfrm>
          <a:prstGeom prst="rect">
            <a:avLst/>
          </a:prstGeom>
          <a:noFill/>
          <a:ln/>
        </p:spPr>
        <p:txBody>
          <a:bodyPr wrap="square" lIns="0" tIns="0" rIns="0" bIns="0" rtlCol="0" anchor="ctr">
            <a:normAutofit/>
          </a:bodyPr>
          <a:lstStyle/>
          <a:p>
            <a:pPr indent="0" marL="0">
              <a:buNone/>
            </a:pPr>
            <a:r>
              <a:rPr lang="en-US" sz="2400" b="1" dirty="0">
                <a:solidFill>
                  <a:schemeClr val="tx1"/>
                </a:solidFill>
              </a:rPr>
              <a:t>학생 수는 줄어도 다문화 학생은 해마다 늘어나니, 교사가 되려면 한국어 교육과 다문화 교육을 지금부터 준비해야 한다.</a:t>
            </a:r>
            <a:endParaRPr lang="en-US" sz="2400" dirty="0"/>
          </a:p>
        </p:txBody>
      </p:sp>
      <p:sp>
        <p:nvSpPr>
          <p:cNvPr id="6" name="발표자 카드"/>
          <p:cNvSpPr/>
          <p:nvPr/>
        </p:nvSpPr>
        <p:spPr>
          <a:xfrm>
            <a:off x="457200" y="2743200"/>
            <a:ext cx="3931920" cy="1737360"/>
          </a:xfrm>
          <a:prstGeom prst="roundRect">
            <a:avLst>
              <a:gd name="adj" fmla="val 4211"/>
            </a:avLst>
          </a:prstGeom>
          <a:solidFill>
            <a:schemeClr val="bg2"/>
          </a:solidFill>
          <a:ln w="12700">
            <a:solidFill>
              <a:schemeClr val="bg2"/>
            </a:solidFill>
            <a:prstDash val="solid"/>
          </a:ln>
        </p:spPr>
      </p:sp>
      <p:sp>
        <p:nvSpPr>
          <p:cNvPr id="7" name="발표자 라벨"/>
          <p:cNvSpPr txBox="1"/>
          <p:nvPr/>
        </p:nvSpPr>
        <p:spPr>
          <a:xfrm>
            <a:off x="685800" y="2926080"/>
            <a:ext cx="3474720" cy="274320"/>
          </a:xfrm>
          <a:prstGeom prst="rect">
            <a:avLst/>
          </a:prstGeom>
          <a:noFill/>
          <a:ln/>
        </p:spPr>
        <p:txBody>
          <a:bodyPr wrap="square" lIns="0" tIns="0" rIns="0" bIns="0" rtlCol="0" anchor="ctr"/>
          <a:lstStyle/>
          <a:p>
            <a:pPr indent="0" marL="0">
              <a:buNone/>
            </a:pPr>
            <a:r>
              <a:rPr lang="en-US" sz="1100" b="1" dirty="0">
                <a:solidFill>
                  <a:schemeClr val="tx2"/>
                </a:solidFill>
              </a:rPr>
              <a:t>발표자</a:t>
            </a:r>
            <a:endParaRPr lang="en-US" sz="1100" dirty="0"/>
          </a:p>
        </p:txBody>
      </p:sp>
      <p:sp>
        <p:nvSpPr>
          <p:cNvPr id="8" name="발표자"/>
          <p:cNvSpPr txBox="1"/>
          <p:nvPr/>
        </p:nvSpPr>
        <p:spPr>
          <a:xfrm>
            <a:off x="685800" y="3246120"/>
            <a:ext cx="3474720" cy="1097280"/>
          </a:xfrm>
          <a:prstGeom prst="rect">
            <a:avLst/>
          </a:prstGeom>
          <a:noFill/>
          <a:ln/>
        </p:spPr>
        <p:txBody>
          <a:bodyPr wrap="square" lIns="0" tIns="0" rIns="0" bIns="0" rtlCol="0" anchor="ctr">
            <a:normAutofit/>
          </a:bodyPr>
          <a:lstStyle/>
          <a:p>
            <a:pPr indent="0" marL="0">
              <a:buNone/>
            </a:pPr>
            <a:r>
              <a:rPr lang="en-US" sz="1600" dirty="0">
                <a:solidFill>
                  <a:schemeClr val="tx1"/>
                </a:solidFill>
              </a:rPr>
              <a:t>2학년 ○반 ○번 ○○○</a:t>
            </a:r>
            <a:endParaRPr lang="en-US" sz="1600" dirty="0"/>
          </a:p>
          <a:p>
            <a:pPr indent="0" marL="0">
              <a:buNone/>
            </a:pPr>
            <a:r>
              <a:rPr lang="en-US" sz="1600" dirty="0">
                <a:solidFill>
                  <a:schemeClr val="tx1"/>
                </a:solidFill>
              </a:rPr>
              <a:t>진로: 초등학교 교사</a:t>
            </a:r>
            <a:endParaRPr lang="en-US" sz="1600" dirty="0"/>
          </a:p>
        </p:txBody>
      </p:sp>
      <p:sp>
        <p:nvSpPr>
          <p:cNvPr id="9" name="참고 도서 카드"/>
          <p:cNvSpPr/>
          <p:nvPr/>
        </p:nvSpPr>
        <p:spPr>
          <a:xfrm>
            <a:off x="4754880" y="2743200"/>
            <a:ext cx="3931920" cy="1737360"/>
          </a:xfrm>
          <a:prstGeom prst="roundRect">
            <a:avLst>
              <a:gd name="adj" fmla="val 4211"/>
            </a:avLst>
          </a:prstGeom>
          <a:solidFill>
            <a:schemeClr val="bg2"/>
          </a:solidFill>
          <a:ln w="12700">
            <a:solidFill>
              <a:schemeClr val="bg2"/>
            </a:solidFill>
            <a:prstDash val="solid"/>
          </a:ln>
        </p:spPr>
      </p:sp>
      <p:sp>
        <p:nvSpPr>
          <p:cNvPr id="10" name="참고 도서 라벨"/>
          <p:cNvSpPr txBox="1"/>
          <p:nvPr/>
        </p:nvSpPr>
        <p:spPr>
          <a:xfrm>
            <a:off x="4983480" y="2926080"/>
            <a:ext cx="3474720" cy="274320"/>
          </a:xfrm>
          <a:prstGeom prst="rect">
            <a:avLst/>
          </a:prstGeom>
          <a:noFill/>
          <a:ln/>
        </p:spPr>
        <p:txBody>
          <a:bodyPr wrap="square" lIns="0" tIns="0" rIns="0" bIns="0" rtlCol="0" anchor="ctr"/>
          <a:lstStyle/>
          <a:p>
            <a:pPr indent="0" marL="0">
              <a:buNone/>
            </a:pPr>
            <a:r>
              <a:rPr lang="en-US" sz="1100" b="1" dirty="0">
                <a:solidFill>
                  <a:schemeClr val="tx2"/>
                </a:solidFill>
              </a:rPr>
              <a:t>참고 도서</a:t>
            </a:r>
            <a:endParaRPr lang="en-US" sz="1100" dirty="0"/>
          </a:p>
        </p:txBody>
      </p:sp>
      <p:sp>
        <p:nvSpPr>
          <p:cNvPr id="11" name="도서명"/>
          <p:cNvSpPr txBox="1"/>
          <p:nvPr/>
        </p:nvSpPr>
        <p:spPr>
          <a:xfrm>
            <a:off x="4983480" y="3246120"/>
            <a:ext cx="3474720" cy="457200"/>
          </a:xfrm>
          <a:prstGeom prst="rect">
            <a:avLst/>
          </a:prstGeom>
          <a:noFill/>
          <a:ln/>
        </p:spPr>
        <p:txBody>
          <a:bodyPr wrap="square" lIns="0" tIns="0" rIns="0" bIns="0" rtlCol="0" anchor="t">
            <a:normAutofit/>
          </a:bodyPr>
          <a:lstStyle/>
          <a:p>
            <a:pPr indent="0" marL="0">
              <a:buNone/>
            </a:pPr>
            <a:r>
              <a:rPr lang="en-US" sz="1500" b="1" dirty="0">
                <a:solidFill>
                  <a:schemeClr val="tx1"/>
                </a:solidFill>
              </a:rPr>
              <a:t>《틀리지 않는 법》 조던 엘렌버그</a:t>
            </a:r>
            <a:endParaRPr lang="en-US" sz="1500" dirty="0"/>
          </a:p>
        </p:txBody>
      </p:sp>
      <p:sp>
        <p:nvSpPr>
          <p:cNvPr id="12" name="도서 연계"/>
          <p:cNvSpPr txBox="1"/>
          <p:nvPr/>
        </p:nvSpPr>
        <p:spPr>
          <a:xfrm>
            <a:off x="4983480" y="3703320"/>
            <a:ext cx="3474720" cy="731520"/>
          </a:xfrm>
          <a:prstGeom prst="rect">
            <a:avLst/>
          </a:prstGeom>
          <a:noFill/>
          <a:ln/>
        </p:spPr>
        <p:txBody>
          <a:bodyPr wrap="square" lIns="0" tIns="0" rIns="0" bIns="0" rtlCol="0" anchor="t">
            <a:normAutofit/>
          </a:bodyPr>
          <a:lstStyle/>
          <a:p>
            <a:pPr indent="0" marL="0">
              <a:buNone/>
            </a:pPr>
            <a:r>
              <a:rPr lang="en-US" sz="1150" dirty="0">
                <a:solidFill>
                  <a:schemeClr val="tx1"/>
                </a:solidFill>
              </a:rPr>
              <a:t>숫자보다 '무엇에 대한 비율인지'를 보라는 말을 따라 수와 비율을 나눠 봤다</a:t>
            </a:r>
            <a:endParaRPr lang="en-US" sz="11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60120" y="274320"/>
            <a:ext cx="7726680" cy="548640"/>
          </a:xfrm>
          <a:prstGeom prst="rect">
            <a:avLst/>
          </a:prstGeom>
          <a:noFill/>
          <a:ln/>
        </p:spPr>
        <p:txBody>
          <a:bodyPr wrap="square" lIns="0" tIns="0" rIns="0" bIns="0" rtlCol="0" anchor="ctr"/>
          <a:lstStyle/>
          <a:p>
            <a:pPr algn="l" indent="0" marL="0">
              <a:buNone/>
            </a:pPr>
            <a:r>
              <a:rPr lang="en-US" sz="2400" b="1" dirty="0">
                <a:solidFill>
                  <a:schemeClr val="tx2"/>
                </a:solidFill>
              </a:rPr>
              <a:t>자료 출처와 내가 만든 표</a:t>
            </a:r>
            <a:endParaRPr lang="en-US" sz="2400" dirty="0"/>
          </a:p>
        </p:txBody>
      </p:sp>
      <p:sp>
        <p:nvSpPr>
          <p:cNvPr id="3" name="번호 2"/>
          <p:cNvSpPr/>
          <p:nvPr/>
        </p:nvSpPr>
        <p:spPr>
          <a:xfrm>
            <a:off x="457200" y="356616"/>
            <a:ext cx="384048" cy="384048"/>
          </a:xfrm>
          <a:prstGeom prst="ellipse">
            <a:avLst/>
          </a:prstGeom>
          <a:solidFill>
            <a:schemeClr val="accent1"/>
          </a:solidFill>
          <a:ln w="12700">
            <a:solidFill>
              <a:schemeClr val="accent1"/>
            </a:solidFill>
            <a:prstDash val="solid"/>
          </a:ln>
        </p:spPr>
      </p:sp>
      <p:sp>
        <p:nvSpPr>
          <p:cNvPr id="4" name="번호 글자 2"/>
          <p:cNvSpPr txBox="1"/>
          <p:nvPr/>
        </p:nvSpPr>
        <p:spPr>
          <a:xfrm>
            <a:off x="457200" y="35661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5" name="출처 카드"/>
          <p:cNvSpPr/>
          <p:nvPr/>
        </p:nvSpPr>
        <p:spPr>
          <a:xfrm>
            <a:off x="457200" y="1005840"/>
            <a:ext cx="4114800" cy="1417320"/>
          </a:xfrm>
          <a:prstGeom prst="roundRect">
            <a:avLst>
              <a:gd name="adj" fmla="val 5161"/>
            </a:avLst>
          </a:prstGeom>
          <a:solidFill>
            <a:schemeClr val="bg2"/>
          </a:solidFill>
          <a:ln w="12700">
            <a:solidFill>
              <a:schemeClr val="bg2"/>
            </a:solidFill>
            <a:prstDash val="solid"/>
          </a:ln>
        </p:spPr>
      </p:sp>
      <p:sp>
        <p:nvSpPr>
          <p:cNvPr id="6" name="출처"/>
          <p:cNvSpPr txBox="1"/>
          <p:nvPr/>
        </p:nvSpPr>
        <p:spPr>
          <a:xfrm>
            <a:off x="640080" y="1143000"/>
            <a:ext cx="3749040" cy="1188720"/>
          </a:xfrm>
          <a:prstGeom prst="rect">
            <a:avLst/>
          </a:prstGeom>
          <a:noFill/>
          <a:ln/>
        </p:spPr>
        <p:txBody>
          <a:bodyPr wrap="square" lIns="0" tIns="0" rIns="0" bIns="0" rtlCol="0" anchor="ctr">
            <a:normAutofit/>
          </a:bodyPr>
          <a:lstStyle/>
          <a:p>
            <a:pPr indent="0" marL="0">
              <a:spcAft>
                <a:spcPts val="300"/>
              </a:spcAft>
              <a:buNone/>
            </a:pPr>
            <a:r>
              <a:rPr lang="en-US" sz="1200" dirty="0">
                <a:solidFill>
                  <a:schemeClr val="tx1"/>
                </a:solidFill>
              </a:rPr>
              <a:t>기관: 교육부·한국교육개발원</a:t>
            </a:r>
            <a:endParaRPr lang="en-US" sz="1200" dirty="0"/>
          </a:p>
          <a:p>
            <a:pPr indent="0" marL="0">
              <a:spcAft>
                <a:spcPts val="300"/>
              </a:spcAft>
              <a:buNone/>
            </a:pPr>
            <a:r>
              <a:rPr lang="en-US" sz="1200" dirty="0">
                <a:solidFill>
                  <a:schemeClr val="tx1"/>
                </a:solidFill>
              </a:rPr>
              <a:t>조사 이름: 「교육기본통계」</a:t>
            </a:r>
            <a:endParaRPr lang="en-US" sz="1200" dirty="0"/>
          </a:p>
          <a:p>
            <a:pPr indent="0" marL="0">
              <a:spcAft>
                <a:spcPts val="300"/>
              </a:spcAft>
              <a:buNone/>
            </a:pPr>
            <a:r>
              <a:rPr lang="en-US" sz="1200" dirty="0">
                <a:solidFill>
                  <a:schemeClr val="tx1"/>
                </a:solidFill>
              </a:rPr>
              <a:t>조사 방식: 모두 조사(전수). 전국 모든 학교가 보고</a:t>
            </a:r>
            <a:endParaRPr lang="en-US" sz="1200" dirty="0"/>
          </a:p>
        </p:txBody>
      </p:sp>
      <p:sp>
        <p:nvSpPr>
          <p:cNvPr id="7" name="표 안내"/>
          <p:cNvSpPr txBox="1"/>
          <p:nvPr/>
        </p:nvSpPr>
        <p:spPr>
          <a:xfrm>
            <a:off x="457200" y="2560320"/>
            <a:ext cx="4114800" cy="256032"/>
          </a:xfrm>
          <a:prstGeom prst="rect">
            <a:avLst/>
          </a:prstGeom>
          <a:noFill/>
          <a:ln/>
        </p:spPr>
        <p:txBody>
          <a:bodyPr wrap="square" lIns="0" tIns="0" rIns="0" bIns="0" rtlCol="0" anchor="ctr"/>
          <a:lstStyle/>
          <a:p>
            <a:pPr indent="0" marL="0">
              <a:buNone/>
            </a:pPr>
            <a:r>
              <a:rPr lang="en-US" sz="1100" dirty="0">
                <a:solidFill>
                  <a:schemeClr val="accent3"/>
                </a:solidFill>
              </a:rPr>
              <a:t>다문화 학생 수만 골라 다시 만든 표 (단위: 만 명)</a:t>
            </a:r>
            <a:endParaRPr lang="en-US" sz="1100" dirty="0"/>
          </a:p>
        </p:txBody>
      </p:sp>
      <p:graphicFrame>
        <p:nvGraphicFramePr>
          <p:cNvPr id="3" name="내가 만든 표"/>
          <p:cNvGraphicFramePr>
            <a:graphicFrameLocks noGrp="1"/>
          </p:cNvGraphicFramePr>
          <p:nvPr>
            <p:extLst>
              <p:ext uri="{D42A27DB-BD31-4B8C-83A1-F6EECF244321}">
                <p14:modId xmlns:p14="http://schemas.microsoft.com/office/powerpoint/2010/main" val="1579011935"/>
              </p:ext>
            </p:extLst>
          </p:nvPr>
        </p:nvGraphicFramePr>
        <p:xfrm>
          <a:off x="457200" y="2852928"/>
          <a:ext cx="4114800" cy="914400"/>
        </p:xfrm>
        <a:graphic>
          <a:graphicData uri="http://schemas.openxmlformats.org/drawingml/2006/table">
            <a:tbl>
              <a:tblPr/>
              <a:tblGrid>
                <a:gridCol w="1097280"/>
                <a:gridCol w="603504"/>
                <a:gridCol w="603504"/>
                <a:gridCol w="603504"/>
                <a:gridCol w="603504"/>
                <a:gridCol w="603504"/>
              </a:tblGrid>
              <a:tr h="329184">
                <a:tc>
                  <a:txBody>
                    <a:bodyPr/>
                    <a:lstStyle/>
                    <a:p>
                      <a:pPr algn="ctr" indent="0" marL="0">
                        <a:buNone/>
                      </a:pPr>
                      <a:r>
                        <a:rPr lang="en-US" sz="1050" b="1" dirty="0">
                          <a:solidFill>
                            <a:srgbClr val="1B211D"/>
                          </a:solidFill>
                        </a:rPr>
                        <a:t>연도</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2021</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2022</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2023</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2024</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2025</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r>
              <a:tr h="329184">
                <a:tc>
                  <a:txBody>
                    <a:bodyPr/>
                    <a:lstStyle/>
                    <a:p>
                      <a:pPr algn="ctr" indent="0" marL="0">
                        <a:buNone/>
                      </a:pPr>
                      <a:r>
                        <a:rPr lang="en-US" sz="1050" dirty="0">
                          <a:solidFill>
                            <a:srgbClr val="1B211D"/>
                          </a:solidFill>
                        </a:rPr>
                        <a:t>다문화 학생 수</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16.0</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16.9</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18.1</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19.4</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20.2</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r>
            </a:tbl>
          </a:graphicData>
        </a:graphic>
      </p:graphicFrame>
      <p:sp>
        <p:nvSpPr>
          <p:cNvPr id="9" name="표 읽기"/>
          <p:cNvSpPr txBox="1"/>
          <p:nvPr/>
        </p:nvSpPr>
        <p:spPr>
          <a:xfrm>
            <a:off x="457200" y="3621024"/>
            <a:ext cx="4114800" cy="411480"/>
          </a:xfrm>
          <a:prstGeom prst="rect">
            <a:avLst/>
          </a:prstGeom>
          <a:noFill/>
          <a:ln/>
        </p:spPr>
        <p:txBody>
          <a:bodyPr wrap="square" lIns="0" tIns="0" rIns="0" bIns="0" rtlCol="0" anchor="ctr"/>
          <a:lstStyle/>
          <a:p>
            <a:pPr indent="0" marL="0">
              <a:buNone/>
            </a:pPr>
            <a:r>
              <a:rPr lang="en-US" sz="1100" dirty="0">
                <a:solidFill>
                  <a:schemeClr val="accent3"/>
                </a:solidFill>
              </a:rPr>
              <a:t>해마다 늘어 2025년 처음 20만 명을 넘었다</a:t>
            </a:r>
            <a:endParaRPr lang="en-US" sz="1100" dirty="0"/>
          </a:p>
        </p:txBody>
      </p:sp>
      <p:sp>
        <p:nvSpPr>
          <p:cNvPr id="10" name="원자료 캡처 자리"/>
          <p:cNvSpPr/>
          <p:nvPr/>
        </p:nvSpPr>
        <p:spPr>
          <a:xfrm>
            <a:off x="4846320" y="1005840"/>
            <a:ext cx="3840480" cy="3474720"/>
          </a:xfrm>
          <a:prstGeom prst="rect">
            <a:avLst/>
          </a:prstGeom>
          <a:solidFill>
            <a:srgbClr val="FFFFFF"/>
          </a:solidFill>
          <a:ln w="12700">
            <a:solidFill>
              <a:schemeClr val="accent4"/>
            </a:solidFill>
            <a:prstDash val="dash"/>
          </a:ln>
        </p:spPr>
      </p:sp>
      <p:sp>
        <p:nvSpPr>
          <p:cNvPr id="11" name="원자료 캡처 자리 안내"/>
          <p:cNvSpPr txBox="1"/>
          <p:nvPr/>
        </p:nvSpPr>
        <p:spPr>
          <a:xfrm>
            <a:off x="5029200" y="1188720"/>
            <a:ext cx="3474720" cy="3108960"/>
          </a:xfrm>
          <a:prstGeom prst="rect">
            <a:avLst/>
          </a:prstGeom>
          <a:noFill/>
          <a:ln/>
        </p:spPr>
        <p:txBody>
          <a:bodyPr wrap="square" rtlCol="0" anchor="ctr"/>
          <a:lstStyle/>
          <a:p>
            <a:pPr algn="ctr" indent="0" marL="0">
              <a:buNone/>
            </a:pPr>
            <a:r>
              <a:rPr lang="en-US" sz="1300" dirty="0">
                <a:solidFill>
                  <a:schemeClr val="accent3"/>
                </a:solidFill>
              </a:rPr>
              <a:t>교육통계서비스 화면 캡처 자리</a:t>
            </a:r>
            <a:endParaRPr lang="en-US" sz="1300" dirty="0"/>
          </a:p>
          <a:p>
            <a:pPr algn="ctr" indent="0" marL="0">
              <a:buNone/>
            </a:pPr>
            <a:r>
              <a:rPr lang="en-US" sz="1300" dirty="0">
                <a:solidFill>
                  <a:schemeClr val="accent3"/>
                </a:solidFill>
              </a:rPr>
              <a:t>(교육기본통계 → 다문화 학생 수)</a:t>
            </a:r>
            <a:endParaRPr lang="en-US" sz="1300" dirty="0"/>
          </a:p>
          <a:p>
            <a:pPr algn="ctr" indent="0" marL="0">
              <a:buNone/>
            </a:pPr>
            <a:endParaRPr lang="en-US" sz="1300" dirty="0"/>
          </a:p>
          <a:p>
            <a:pPr algn="ctr" indent="0" marL="0">
              <a:buNone/>
            </a:pPr>
            <a:r>
              <a:rPr lang="en-US" sz="1300" dirty="0">
                <a:solidFill>
                  <a:schemeClr val="accent3"/>
                </a:solidFill>
              </a:rPr>
              <a:t>실제 발표에서는 여기에 캡처 이미지</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960120" y="274320"/>
            <a:ext cx="7726680" cy="548640"/>
          </a:xfrm>
          <a:prstGeom prst="rect">
            <a:avLst/>
          </a:prstGeom>
          <a:noFill/>
          <a:ln/>
        </p:spPr>
        <p:txBody>
          <a:bodyPr wrap="square" lIns="0" tIns="0" rIns="0" bIns="0" rtlCol="0" anchor="ctr"/>
          <a:lstStyle/>
          <a:p>
            <a:pPr algn="l" indent="0" marL="0">
              <a:buNone/>
            </a:pPr>
            <a:r>
              <a:rPr lang="en-US" sz="2400" b="1" dirty="0">
                <a:solidFill>
                  <a:schemeClr val="tx2"/>
                </a:solidFill>
              </a:rPr>
              <a:t>그래프와 해석</a:t>
            </a:r>
            <a:endParaRPr lang="en-US" sz="2400" dirty="0"/>
          </a:p>
        </p:txBody>
      </p:sp>
      <p:sp>
        <p:nvSpPr>
          <p:cNvPr id="3" name="번호 3"/>
          <p:cNvSpPr/>
          <p:nvPr/>
        </p:nvSpPr>
        <p:spPr>
          <a:xfrm>
            <a:off x="457200" y="356616"/>
            <a:ext cx="384048" cy="384048"/>
          </a:xfrm>
          <a:prstGeom prst="ellipse">
            <a:avLst/>
          </a:prstGeom>
          <a:solidFill>
            <a:schemeClr val="accent1"/>
          </a:solidFill>
          <a:ln w="12700">
            <a:solidFill>
              <a:schemeClr val="accent1"/>
            </a:solidFill>
            <a:prstDash val="solid"/>
          </a:ln>
        </p:spPr>
      </p:sp>
      <p:sp>
        <p:nvSpPr>
          <p:cNvPr id="4" name="번호 글자 3"/>
          <p:cNvSpPr txBox="1"/>
          <p:nvPr/>
        </p:nvSpPr>
        <p:spPr>
          <a:xfrm>
            <a:off x="457200" y="35661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graphicFrame>
        <p:nvGraphicFramePr>
          <p:cNvPr id="5" name="초·중·고 다문화 학생 수 (단위: 만 명)" descr=""/>
          <p:cNvGraphicFramePr/>
          <p:nvPr/>
        </p:nvGraphicFramePr>
        <p:xfrm>
          <a:off x="457200" y="1005840"/>
          <a:ext cx="4572000" cy="2468880"/>
        </p:xfrm>
        <a:graphic xmlns:a="http://schemas.openxmlformats.org/drawingml/2006/main">
          <a:graphicData uri="http://schemas.openxmlformats.org/drawingml/2006/chart">
            <c:chart xmlns:c="http://schemas.openxmlformats.org/drawingml/2006/chart" r:id="rId1"/>
          </a:graphicData>
        </a:graphic>
      </p:graphicFrame>
      <p:sp>
        <p:nvSpPr>
          <p:cNvPr id="6" name="확률분포표 안내"/>
          <p:cNvSpPr txBox="1"/>
          <p:nvPr/>
        </p:nvSpPr>
        <p:spPr>
          <a:xfrm>
            <a:off x="457200" y="3520440"/>
            <a:ext cx="4572000" cy="256032"/>
          </a:xfrm>
          <a:prstGeom prst="rect">
            <a:avLst/>
          </a:prstGeom>
          <a:noFill/>
          <a:ln/>
        </p:spPr>
        <p:txBody>
          <a:bodyPr wrap="square" lIns="0" tIns="0" rIns="0" bIns="0" rtlCol="0" anchor="ctr"/>
          <a:lstStyle/>
          <a:p>
            <a:pPr indent="0" marL="0">
              <a:buNone/>
            </a:pPr>
            <a:r>
              <a:rPr lang="en-US" sz="1100" dirty="0">
                <a:solidFill>
                  <a:schemeClr val="accent3"/>
                </a:solidFill>
              </a:rPr>
              <a:t>확률분포표 (2025년 학생 1명, X = 다문화 학생이면 1)</a:t>
            </a:r>
            <a:endParaRPr lang="en-US" sz="1100" dirty="0"/>
          </a:p>
        </p:txBody>
      </p:sp>
      <p:graphicFrame>
        <p:nvGraphicFramePr>
          <p:cNvPr id="4" name="확률분포표"/>
          <p:cNvGraphicFramePr>
            <a:graphicFrameLocks noGrp="1"/>
          </p:cNvGraphicFramePr>
          <p:nvPr>
            <p:extLst>
              <p:ext uri="{D42A27DB-BD31-4B8C-83A1-F6EECF244321}">
                <p14:modId xmlns:p14="http://schemas.microsoft.com/office/powerpoint/2010/main" val="1579011935"/>
              </p:ext>
            </p:extLst>
          </p:nvPr>
        </p:nvGraphicFramePr>
        <p:xfrm>
          <a:off x="457200" y="3803904"/>
          <a:ext cx="4572000" cy="914400"/>
        </p:xfrm>
        <a:graphic>
          <a:graphicData uri="http://schemas.openxmlformats.org/drawingml/2006/table">
            <a:tbl>
              <a:tblPr/>
              <a:tblGrid>
                <a:gridCol w="822960"/>
                <a:gridCol w="1371600"/>
                <a:gridCol w="1463040"/>
                <a:gridCol w="914400"/>
              </a:tblGrid>
              <a:tr h="274320">
                <a:tc>
                  <a:txBody>
                    <a:bodyPr/>
                    <a:lstStyle/>
                    <a:p>
                      <a:pPr algn="ctr" indent="0" marL="0">
                        <a:buNone/>
                      </a:pPr>
                      <a:r>
                        <a:rPr lang="en-US" sz="1050" b="1" dirty="0">
                          <a:solidFill>
                            <a:srgbClr val="1B211D"/>
                          </a:solidFill>
                        </a:rPr>
                        <a:t>X</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0 (다문화 아님)</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1 (다문화 학생)</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c>
                  <a:txBody>
                    <a:bodyPr/>
                    <a:lstStyle/>
                    <a:p>
                      <a:pPr algn="ctr" indent="0" marL="0">
                        <a:buNone/>
                      </a:pPr>
                      <a:r>
                        <a:rPr lang="en-US" sz="1050" b="1" dirty="0">
                          <a:solidFill>
                            <a:srgbClr val="1B211D"/>
                          </a:solidFill>
                        </a:rPr>
                        <a:t>합계</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solidFill>
                      <a:srgbClr val="EEF3EF"/>
                    </a:solidFill>
                  </a:tcPr>
                </a:tc>
              </a:tr>
              <a:tr h="274320">
                <a:tc>
                  <a:txBody>
                    <a:bodyPr/>
                    <a:lstStyle/>
                    <a:p>
                      <a:pPr algn="ctr" indent="0" marL="0">
                        <a:buNone/>
                      </a:pPr>
                      <a:r>
                        <a:rPr lang="en-US" sz="1050" dirty="0">
                          <a:solidFill>
                            <a:srgbClr val="1B211D"/>
                          </a:solidFill>
                        </a:rPr>
                        <a:t>P(X = x)</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0.960</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0.040</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c>
                  <a:txBody>
                    <a:bodyPr/>
                    <a:lstStyle/>
                    <a:p>
                      <a:pPr algn="ctr" indent="0" marL="0">
                        <a:buNone/>
                      </a:pPr>
                      <a:r>
                        <a:rPr lang="en-US" sz="1050" dirty="0">
                          <a:solidFill>
                            <a:srgbClr val="1B211D"/>
                          </a:solidFill>
                        </a:rPr>
                        <a:t>1</a:t>
                      </a:r>
                      <a:endParaRPr lang="en-US" sz="1050" dirty="0"/>
                    </a:p>
                  </a:txBody>
                  <a:tcPr marL="27432" marR="27432" marT="27432" marB="27432" anchor="ctr">
                    <a:lnL w="9525" cap="flat" cmpd="sng" algn="ctr">
                      <a:solidFill>
                        <a:srgbClr val="B9B4A6"/>
                      </a:solidFill>
                      <a:prstDash val="solid"/>
                      <a:round/>
                      <a:headEnd type="none" w="med" len="med"/>
                      <a:tailEnd type="none" w="med" len="med"/>
                    </a:lnL>
                    <a:lnR w="9525" cap="flat" cmpd="sng" algn="ctr">
                      <a:solidFill>
                        <a:srgbClr val="B9B4A6"/>
                      </a:solidFill>
                      <a:prstDash val="solid"/>
                      <a:round/>
                      <a:headEnd type="none" w="med" len="med"/>
                      <a:tailEnd type="none" w="med" len="med"/>
                    </a:lnR>
                    <a:lnT w="9525" cap="flat" cmpd="sng" algn="ctr">
                      <a:solidFill>
                        <a:srgbClr val="B9B4A6"/>
                      </a:solidFill>
                      <a:prstDash val="solid"/>
                      <a:round/>
                      <a:headEnd type="none" w="med" len="med"/>
                      <a:tailEnd type="none" w="med" len="med"/>
                    </a:lnT>
                    <a:lnB w="9525" cap="flat" cmpd="sng" algn="ctr">
                      <a:solidFill>
                        <a:srgbClr val="B9B4A6"/>
                      </a:solidFill>
                      <a:prstDash val="solid"/>
                      <a:round/>
                      <a:headEnd type="none" w="med" len="med"/>
                      <a:tailEnd type="none" w="med" len="med"/>
                    </a:lnB>
                  </a:tcPr>
                </a:tc>
              </a:tr>
            </a:tbl>
          </a:graphicData>
        </a:graphic>
      </p:graphicFrame>
      <p:sp>
        <p:nvSpPr>
          <p:cNvPr id="8" name="해석 카드 1"/>
          <p:cNvSpPr/>
          <p:nvPr/>
        </p:nvSpPr>
        <p:spPr>
          <a:xfrm>
            <a:off x="5303520" y="1005840"/>
            <a:ext cx="3383280" cy="1051560"/>
          </a:xfrm>
          <a:prstGeom prst="roundRect">
            <a:avLst>
              <a:gd name="adj" fmla="val 6957"/>
            </a:avLst>
          </a:prstGeom>
          <a:solidFill>
            <a:schemeClr val="bg2"/>
          </a:solidFill>
          <a:ln w="12700">
            <a:solidFill>
              <a:schemeClr val="bg2"/>
            </a:solidFill>
            <a:prstDash val="solid"/>
          </a:ln>
        </p:spPr>
      </p:sp>
      <p:sp>
        <p:nvSpPr>
          <p:cNvPr id="9" name="해석 라벨 1"/>
          <p:cNvSpPr txBox="1"/>
          <p:nvPr/>
        </p:nvSpPr>
        <p:spPr>
          <a:xfrm>
            <a:off x="5486400" y="1097280"/>
            <a:ext cx="3017520" cy="274320"/>
          </a:xfrm>
          <a:prstGeom prst="rect">
            <a:avLst/>
          </a:prstGeom>
          <a:noFill/>
          <a:ln/>
        </p:spPr>
        <p:txBody>
          <a:bodyPr wrap="square" lIns="0" tIns="0" rIns="0" bIns="0" rtlCol="0" anchor="ctr"/>
          <a:lstStyle/>
          <a:p>
            <a:pPr indent="0" marL="0">
              <a:buNone/>
            </a:pPr>
            <a:r>
              <a:rPr lang="en-US" sz="1100" b="1" dirty="0">
                <a:solidFill>
                  <a:schemeClr val="tx2"/>
                </a:solidFill>
              </a:rPr>
              <a:t>① 숫자로 말하기</a:t>
            </a:r>
            <a:endParaRPr lang="en-US" sz="1100" dirty="0"/>
          </a:p>
        </p:txBody>
      </p:sp>
      <p:sp>
        <p:nvSpPr>
          <p:cNvPr id="10" name="해석 1"/>
          <p:cNvSpPr txBox="1"/>
          <p:nvPr/>
        </p:nvSpPr>
        <p:spPr>
          <a:xfrm>
            <a:off x="5486400" y="1371600"/>
            <a:ext cx="3017520" cy="640080"/>
          </a:xfrm>
          <a:prstGeom prst="rect">
            <a:avLst/>
          </a:prstGeom>
          <a:noFill/>
          <a:ln/>
        </p:spPr>
        <p:txBody>
          <a:bodyPr wrap="square" lIns="0" tIns="0" rIns="0" bIns="0" rtlCol="0" anchor="t">
            <a:normAutofit/>
          </a:bodyPr>
          <a:lstStyle/>
          <a:p>
            <a:pPr indent="0" marL="0">
              <a:buNone/>
            </a:pPr>
            <a:r>
              <a:rPr lang="en-US" sz="1050" dirty="0">
                <a:solidFill>
                  <a:schemeClr val="tx1"/>
                </a:solidFill>
              </a:rPr>
              <a:t>16.0만 명(2021) → 20.2만 명(2025), 4.2만 명(약 26%) 증가. 2025년 처음 20만 명, 초·중등 학생의 4.0%</a:t>
            </a:r>
            <a:endParaRPr lang="en-US" sz="1050" dirty="0"/>
          </a:p>
        </p:txBody>
      </p:sp>
      <p:sp>
        <p:nvSpPr>
          <p:cNvPr id="11" name="해석 카드 2"/>
          <p:cNvSpPr/>
          <p:nvPr/>
        </p:nvSpPr>
        <p:spPr>
          <a:xfrm>
            <a:off x="5303520" y="2194560"/>
            <a:ext cx="3383280" cy="1051560"/>
          </a:xfrm>
          <a:prstGeom prst="roundRect">
            <a:avLst>
              <a:gd name="adj" fmla="val 6957"/>
            </a:avLst>
          </a:prstGeom>
          <a:solidFill>
            <a:schemeClr val="bg2"/>
          </a:solidFill>
          <a:ln w="12700">
            <a:solidFill>
              <a:schemeClr val="bg2"/>
            </a:solidFill>
            <a:prstDash val="solid"/>
          </a:ln>
        </p:spPr>
      </p:sp>
      <p:sp>
        <p:nvSpPr>
          <p:cNvPr id="12" name="해석 라벨 2"/>
          <p:cNvSpPr txBox="1"/>
          <p:nvPr/>
        </p:nvSpPr>
        <p:spPr>
          <a:xfrm>
            <a:off x="5486400" y="2286000"/>
            <a:ext cx="3017520" cy="274320"/>
          </a:xfrm>
          <a:prstGeom prst="rect">
            <a:avLst/>
          </a:prstGeom>
          <a:noFill/>
          <a:ln/>
        </p:spPr>
        <p:txBody>
          <a:bodyPr wrap="square" lIns="0" tIns="0" rIns="0" bIns="0" rtlCol="0" anchor="ctr"/>
          <a:lstStyle/>
          <a:p>
            <a:pPr indent="0" marL="0">
              <a:buNone/>
            </a:pPr>
            <a:r>
              <a:rPr lang="en-US" sz="1100" b="1" dirty="0">
                <a:solidFill>
                  <a:schemeClr val="tx2"/>
                </a:solidFill>
              </a:rPr>
              <a:t>② 왜 그렇게 되었을까, 내 의견</a:t>
            </a:r>
            <a:endParaRPr lang="en-US" sz="1100" dirty="0"/>
          </a:p>
        </p:txBody>
      </p:sp>
      <p:sp>
        <p:nvSpPr>
          <p:cNvPr id="13" name="해석 2"/>
          <p:cNvSpPr txBox="1"/>
          <p:nvPr/>
        </p:nvSpPr>
        <p:spPr>
          <a:xfrm>
            <a:off x="5486400" y="2560320"/>
            <a:ext cx="3017520" cy="640080"/>
          </a:xfrm>
          <a:prstGeom prst="rect">
            <a:avLst/>
          </a:prstGeom>
          <a:noFill/>
          <a:ln/>
        </p:spPr>
        <p:txBody>
          <a:bodyPr wrap="square" lIns="0" tIns="0" rIns="0" bIns="0" rtlCol="0" anchor="t">
            <a:normAutofit/>
          </a:bodyPr>
          <a:lstStyle/>
          <a:p>
            <a:pPr indent="0" marL="0">
              <a:buNone/>
            </a:pPr>
            <a:r>
              <a:rPr lang="en-US" sz="1050" dirty="0">
                <a:solidFill>
                  <a:schemeClr val="tx1"/>
                </a:solidFill>
              </a:rPr>
              <a:t>국제결혼·외국인 가정 자녀가 취학 연령이 됐고, 전체 학생은 줄어 비율은 더 빨리 커진다</a:t>
            </a:r>
            <a:endParaRPr lang="en-US" sz="1050" dirty="0"/>
          </a:p>
        </p:txBody>
      </p:sp>
      <p:sp>
        <p:nvSpPr>
          <p:cNvPr id="14" name="해석 카드 3"/>
          <p:cNvSpPr/>
          <p:nvPr/>
        </p:nvSpPr>
        <p:spPr>
          <a:xfrm>
            <a:off x="5303520" y="3383280"/>
            <a:ext cx="3383280" cy="1051560"/>
          </a:xfrm>
          <a:prstGeom prst="roundRect">
            <a:avLst>
              <a:gd name="adj" fmla="val 6957"/>
            </a:avLst>
          </a:prstGeom>
          <a:solidFill>
            <a:schemeClr val="bg2"/>
          </a:solidFill>
          <a:ln w="12700">
            <a:solidFill>
              <a:schemeClr val="bg2"/>
            </a:solidFill>
            <a:prstDash val="solid"/>
          </a:ln>
        </p:spPr>
      </p:sp>
      <p:sp>
        <p:nvSpPr>
          <p:cNvPr id="15" name="해석 라벨 3"/>
          <p:cNvSpPr txBox="1"/>
          <p:nvPr/>
        </p:nvSpPr>
        <p:spPr>
          <a:xfrm>
            <a:off x="5486400" y="3474720"/>
            <a:ext cx="3017520" cy="274320"/>
          </a:xfrm>
          <a:prstGeom prst="rect">
            <a:avLst/>
          </a:prstGeom>
          <a:noFill/>
          <a:ln/>
        </p:spPr>
        <p:txBody>
          <a:bodyPr wrap="square" lIns="0" tIns="0" rIns="0" bIns="0" rtlCol="0" anchor="ctr"/>
          <a:lstStyle/>
          <a:p>
            <a:pPr indent="0" marL="0">
              <a:buNone/>
            </a:pPr>
            <a:r>
              <a:rPr lang="en-US" sz="1100" b="1" dirty="0">
                <a:solidFill>
                  <a:schemeClr val="tx2"/>
                </a:solidFill>
              </a:rPr>
              <a:t>③ 내 의견의 근거</a:t>
            </a:r>
            <a:endParaRPr lang="en-US" sz="1100" dirty="0"/>
          </a:p>
        </p:txBody>
      </p:sp>
      <p:sp>
        <p:nvSpPr>
          <p:cNvPr id="16" name="해석 3"/>
          <p:cNvSpPr txBox="1"/>
          <p:nvPr/>
        </p:nvSpPr>
        <p:spPr>
          <a:xfrm>
            <a:off x="5486400" y="3749040"/>
            <a:ext cx="3017520" cy="640080"/>
          </a:xfrm>
          <a:prstGeom prst="rect">
            <a:avLst/>
          </a:prstGeom>
          <a:noFill/>
          <a:ln/>
        </p:spPr>
        <p:txBody>
          <a:bodyPr wrap="square" lIns="0" tIns="0" rIns="0" bIns="0" rtlCol="0" anchor="t">
            <a:normAutofit/>
          </a:bodyPr>
          <a:lstStyle/>
          <a:p>
            <a:pPr indent="0" marL="0">
              <a:buNone/>
            </a:pPr>
            <a:r>
              <a:rPr lang="en-US" sz="1050" dirty="0">
                <a:solidFill>
                  <a:schemeClr val="tx1"/>
                </a:solidFill>
              </a:rPr>
              <a:t>같은 통계: 전체 학생 568.5만(2024) → 555.1만 명(2025), −2.3%. 다문화 학생은 +4.3%. 한쪽이 줄고 한쪽이 늘면 비율은 오른다</a:t>
            </a:r>
            <a:endParaRPr lang="en-US" sz="10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960120" y="274320"/>
            <a:ext cx="7726680" cy="548640"/>
          </a:xfrm>
          <a:prstGeom prst="rect">
            <a:avLst/>
          </a:prstGeom>
          <a:noFill/>
          <a:ln/>
        </p:spPr>
        <p:txBody>
          <a:bodyPr wrap="square" lIns="0" tIns="0" rIns="0" bIns="0" rtlCol="0" anchor="ctr"/>
          <a:lstStyle/>
          <a:p>
            <a:pPr algn="l" indent="0" marL="0">
              <a:buNone/>
            </a:pPr>
            <a:r>
              <a:rPr lang="en-US" sz="2400" b="1" dirty="0">
                <a:solidFill>
                  <a:schemeClr val="tx2"/>
                </a:solidFill>
              </a:rPr>
              <a:t>결론</a:t>
            </a:r>
            <a:endParaRPr lang="en-US" sz="2400" dirty="0"/>
          </a:p>
        </p:txBody>
      </p:sp>
      <p:sp>
        <p:nvSpPr>
          <p:cNvPr id="3" name="번호 4"/>
          <p:cNvSpPr/>
          <p:nvPr/>
        </p:nvSpPr>
        <p:spPr>
          <a:xfrm>
            <a:off x="457200" y="356616"/>
            <a:ext cx="384048" cy="384048"/>
          </a:xfrm>
          <a:prstGeom prst="ellipse">
            <a:avLst/>
          </a:prstGeom>
          <a:solidFill>
            <a:schemeClr val="accent1"/>
          </a:solidFill>
          <a:ln w="12700">
            <a:solidFill>
              <a:schemeClr val="accent1"/>
            </a:solidFill>
            <a:prstDash val="solid"/>
          </a:ln>
        </p:spPr>
      </p:sp>
      <p:sp>
        <p:nvSpPr>
          <p:cNvPr id="4" name="번호 글자 4"/>
          <p:cNvSpPr txBox="1"/>
          <p:nvPr/>
        </p:nvSpPr>
        <p:spPr>
          <a:xfrm>
            <a:off x="457200" y="35661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5" name="결론 카드 1"/>
          <p:cNvSpPr/>
          <p:nvPr/>
        </p:nvSpPr>
        <p:spPr>
          <a:xfrm>
            <a:off x="457200" y="1005840"/>
            <a:ext cx="8229600" cy="1051560"/>
          </a:xfrm>
          <a:prstGeom prst="roundRect">
            <a:avLst>
              <a:gd name="adj" fmla="val 6957"/>
            </a:avLst>
          </a:prstGeom>
          <a:solidFill>
            <a:schemeClr val="bg2"/>
          </a:solidFill>
          <a:ln w="12700">
            <a:solidFill>
              <a:schemeClr val="bg2"/>
            </a:solidFill>
            <a:prstDash val="solid"/>
          </a:ln>
        </p:spPr>
      </p:sp>
      <p:sp>
        <p:nvSpPr>
          <p:cNvPr id="6" name="결론 라벨 1"/>
          <p:cNvSpPr txBox="1"/>
          <p:nvPr/>
        </p:nvSpPr>
        <p:spPr>
          <a:xfrm>
            <a:off x="685800" y="1115568"/>
            <a:ext cx="7772400" cy="274320"/>
          </a:xfrm>
          <a:prstGeom prst="rect">
            <a:avLst/>
          </a:prstGeom>
          <a:noFill/>
          <a:ln/>
        </p:spPr>
        <p:txBody>
          <a:bodyPr wrap="square" lIns="0" tIns="0" rIns="0" bIns="0" rtlCol="0" anchor="ctr"/>
          <a:lstStyle/>
          <a:p>
            <a:pPr indent="0" marL="0">
              <a:buNone/>
            </a:pPr>
            <a:r>
              <a:rPr lang="en-US" sz="1100" b="1" dirty="0">
                <a:solidFill>
                  <a:schemeClr val="tx2"/>
                </a:solidFill>
              </a:rPr>
              <a:t>통계가 보여 준 것</a:t>
            </a:r>
            <a:endParaRPr lang="en-US" sz="1100" dirty="0"/>
          </a:p>
        </p:txBody>
      </p:sp>
      <p:sp>
        <p:nvSpPr>
          <p:cNvPr id="7" name="결론 1"/>
          <p:cNvSpPr txBox="1"/>
          <p:nvPr/>
        </p:nvSpPr>
        <p:spPr>
          <a:xfrm>
            <a:off x="685800" y="1417320"/>
            <a:ext cx="7772400" cy="548640"/>
          </a:xfrm>
          <a:prstGeom prst="rect">
            <a:avLst/>
          </a:prstGeom>
          <a:noFill/>
          <a:ln/>
        </p:spPr>
        <p:txBody>
          <a:bodyPr wrap="square" lIns="0" tIns="0" rIns="0" bIns="0" rtlCol="0" anchor="t">
            <a:normAutofit/>
          </a:bodyPr>
          <a:lstStyle/>
          <a:p>
            <a:pPr indent="0" marL="0">
              <a:buNone/>
            </a:pPr>
            <a:r>
              <a:rPr lang="en-US" sz="1600" dirty="0">
                <a:solidFill>
                  <a:schemeClr val="tx1"/>
                </a:solidFill>
              </a:rPr>
              <a:t>전체 학생은 줄고 다문화 학생은 늘어 비율이 4%를 넘었다. 30명 학급이면 평균 1.2명이다.</a:t>
            </a:r>
            <a:endParaRPr lang="en-US" sz="1600" dirty="0"/>
          </a:p>
        </p:txBody>
      </p:sp>
      <p:sp>
        <p:nvSpPr>
          <p:cNvPr id="8" name="결론 카드 2"/>
          <p:cNvSpPr/>
          <p:nvPr/>
        </p:nvSpPr>
        <p:spPr>
          <a:xfrm>
            <a:off x="457200" y="2194560"/>
            <a:ext cx="8229600" cy="1051560"/>
          </a:xfrm>
          <a:prstGeom prst="roundRect">
            <a:avLst>
              <a:gd name="adj" fmla="val 6957"/>
            </a:avLst>
          </a:prstGeom>
          <a:solidFill>
            <a:schemeClr val="bg2"/>
          </a:solidFill>
          <a:ln w="12700">
            <a:solidFill>
              <a:schemeClr val="bg2"/>
            </a:solidFill>
            <a:prstDash val="solid"/>
          </a:ln>
        </p:spPr>
      </p:sp>
      <p:sp>
        <p:nvSpPr>
          <p:cNvPr id="9" name="결론 라벨 2"/>
          <p:cNvSpPr txBox="1"/>
          <p:nvPr/>
        </p:nvSpPr>
        <p:spPr>
          <a:xfrm>
            <a:off x="685800" y="2304288"/>
            <a:ext cx="7772400" cy="274320"/>
          </a:xfrm>
          <a:prstGeom prst="rect">
            <a:avLst/>
          </a:prstGeom>
          <a:noFill/>
          <a:ln/>
        </p:spPr>
        <p:txBody>
          <a:bodyPr wrap="square" lIns="0" tIns="0" rIns="0" bIns="0" rtlCol="0" anchor="ctr"/>
          <a:lstStyle/>
          <a:p>
            <a:pPr indent="0" marL="0">
              <a:buNone/>
            </a:pPr>
            <a:r>
              <a:rPr lang="en-US" sz="1100" b="1" dirty="0">
                <a:solidFill>
                  <a:schemeClr val="tx2"/>
                </a:solidFill>
              </a:rPr>
              <a:t>그래서 나의 주장</a:t>
            </a:r>
            <a:endParaRPr lang="en-US" sz="1100" dirty="0"/>
          </a:p>
        </p:txBody>
      </p:sp>
      <p:sp>
        <p:nvSpPr>
          <p:cNvPr id="10" name="결론 2"/>
          <p:cNvSpPr txBox="1"/>
          <p:nvPr/>
        </p:nvSpPr>
        <p:spPr>
          <a:xfrm>
            <a:off x="685800" y="2606040"/>
            <a:ext cx="7772400" cy="548640"/>
          </a:xfrm>
          <a:prstGeom prst="rect">
            <a:avLst/>
          </a:prstGeom>
          <a:noFill/>
          <a:ln/>
        </p:spPr>
        <p:txBody>
          <a:bodyPr wrap="square" lIns="0" tIns="0" rIns="0" bIns="0" rtlCol="0" anchor="t">
            <a:normAutofit/>
          </a:bodyPr>
          <a:lstStyle/>
          <a:p>
            <a:pPr indent="0" marL="0">
              <a:buNone/>
            </a:pPr>
            <a:r>
              <a:rPr lang="en-US" sz="1600" dirty="0">
                <a:solidFill>
                  <a:schemeClr val="tx1"/>
                </a:solidFill>
              </a:rPr>
              <a:t>교사가 되려면 한국어 교육과 다문화 교육 역량을 지금부터 준비해야 한다.</a:t>
            </a:r>
            <a:endParaRPr lang="en-US" sz="1600" dirty="0"/>
          </a:p>
        </p:txBody>
      </p:sp>
      <p:sp>
        <p:nvSpPr>
          <p:cNvPr id="11" name="결론 카드 3"/>
          <p:cNvSpPr/>
          <p:nvPr/>
        </p:nvSpPr>
        <p:spPr>
          <a:xfrm>
            <a:off x="457200" y="3383280"/>
            <a:ext cx="8229600" cy="1051560"/>
          </a:xfrm>
          <a:prstGeom prst="roundRect">
            <a:avLst>
              <a:gd name="adj" fmla="val 6957"/>
            </a:avLst>
          </a:prstGeom>
          <a:solidFill>
            <a:schemeClr val="bg2"/>
          </a:solidFill>
          <a:ln w="12700">
            <a:solidFill>
              <a:schemeClr val="bg2"/>
            </a:solidFill>
            <a:prstDash val="solid"/>
          </a:ln>
        </p:spPr>
      </p:sp>
      <p:sp>
        <p:nvSpPr>
          <p:cNvPr id="12" name="결론 라벨 3"/>
          <p:cNvSpPr txBox="1"/>
          <p:nvPr/>
        </p:nvSpPr>
        <p:spPr>
          <a:xfrm>
            <a:off x="685800" y="3493008"/>
            <a:ext cx="7772400" cy="274320"/>
          </a:xfrm>
          <a:prstGeom prst="rect">
            <a:avLst/>
          </a:prstGeom>
          <a:noFill/>
          <a:ln/>
        </p:spPr>
        <p:txBody>
          <a:bodyPr wrap="square" lIns="0" tIns="0" rIns="0" bIns="0" rtlCol="0" anchor="ctr"/>
          <a:lstStyle/>
          <a:p>
            <a:pPr indent="0" marL="0">
              <a:buNone/>
            </a:pPr>
            <a:r>
              <a:rPr lang="en-US" sz="1100" b="1" dirty="0">
                <a:solidFill>
                  <a:schemeClr val="tx2"/>
                </a:solidFill>
              </a:rPr>
              <a:t>남는 궁금증</a:t>
            </a:r>
            <a:endParaRPr lang="en-US" sz="1100" dirty="0"/>
          </a:p>
        </p:txBody>
      </p:sp>
      <p:sp>
        <p:nvSpPr>
          <p:cNvPr id="13" name="결론 3"/>
          <p:cNvSpPr txBox="1"/>
          <p:nvPr/>
        </p:nvSpPr>
        <p:spPr>
          <a:xfrm>
            <a:off x="685800" y="3794760"/>
            <a:ext cx="7772400" cy="548640"/>
          </a:xfrm>
          <a:prstGeom prst="rect">
            <a:avLst/>
          </a:prstGeom>
          <a:noFill/>
          <a:ln/>
        </p:spPr>
        <p:txBody>
          <a:bodyPr wrap="square" lIns="0" tIns="0" rIns="0" bIns="0" rtlCol="0" anchor="t">
            <a:normAutofit/>
          </a:bodyPr>
          <a:lstStyle/>
          <a:p>
            <a:pPr indent="0" marL="0">
              <a:buNone/>
            </a:pPr>
            <a:r>
              <a:rPr lang="en-US" sz="1600" dirty="0">
                <a:solidFill>
                  <a:schemeClr val="tx1"/>
                </a:solidFill>
              </a:rPr>
              <a:t>광주의 다문화 학생 비율이 전국과 다른지 교육통계서비스에서 찾아보고 싶다.</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6759"/>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통계독서탐구">
  <a:themeElements>
    <a:clrScheme name="통계독서탐구">
      <a:dk1>
        <a:srgbClr val="1B211D"/>
      </a:dk1>
      <a:lt1>
        <a:srgbClr val="FFFFFF"/>
      </a:lt1>
      <a:dk2>
        <a:srgbClr val="2F5D50"/>
      </a:dk2>
      <a:lt2>
        <a:srgbClr val="EEF3EF"/>
      </a:lt2>
      <a:accent1>
        <a:srgbClr val="2F5D50"/>
      </a:accent1>
      <a:accent2>
        <a:srgbClr val="2A78D6"/>
      </a:accent2>
      <a:accent3>
        <a:srgbClr val="6B6759"/>
      </a:accent3>
      <a:accent4>
        <a:srgbClr val="B9B4A6"/>
      </a:accent4>
      <a:accent5>
        <a:srgbClr val="E1EBE5"/>
      </a:accent5>
      <a:accent6>
        <a:srgbClr val="F3F1EA"/>
      </a:accent6>
      <a:hlink>
        <a:srgbClr val="2A78D6"/>
      </a:hlink>
      <a:folHlink>
        <a:srgbClr val="6B6759"/>
      </a:folHlink>
    </a:clrScheme>
    <a:fontScheme name="통계독서탐구">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통계독서탐구 발표 예시 (초등학교 교사 지망)</dc:title>
  <dc:subject>2학년 확률과 통계 수행평가 통계독서탐구</dc:subject>
  <dc:creator>PptxGenJS</dc:creator>
  <cp:lastModifiedBy>PptxGenJS</cp:lastModifiedBy>
  <cp:revision>1</cp:revision>
  <dcterms:created xsi:type="dcterms:W3CDTF">2026-10-19T06:55:04Z</dcterms:created>
  <dcterms:modified xsi:type="dcterms:W3CDTF">2026-10-19T06:55:04Z</dcterms:modified>
</cp:coreProperties>
</file>